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51b4a0c9bf498a" /><Relationship Type="http://schemas.openxmlformats.org/officeDocument/2006/relationships/extended-properties" Target="/docProps/app.xml" Id="Rdadd1de1aedb43f7" /><Relationship Type="http://schemas.openxmlformats.org/officeDocument/2006/relationships/officeDocument" Target="/ppt/presentation.xml" Id="Rb0bb3ac58f764c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d9573ad09f47ea"/>
  </p:sldMasterIdLst>
  <p:notesMasterIdLst>
    <p:notesMasterId xmlns:r="http://schemas.openxmlformats.org/officeDocument/2006/relationships" r:id="Ra4c631589e54472e"/>
  </p:notesMasterIdLst>
  <p:sldIdLst>
    <p:sldId xmlns:r="http://schemas.openxmlformats.org/officeDocument/2006/relationships" id="256" r:id="Rb9c0ed5a9e964ba3"/>
    <p:sldId xmlns:r="http://schemas.openxmlformats.org/officeDocument/2006/relationships" id="257" r:id="R4084a050a472420b"/>
    <p:sldId xmlns:r="http://schemas.openxmlformats.org/officeDocument/2006/relationships" id="258" r:id="R31431bfec0244cc6"/>
    <p:sldId xmlns:r="http://schemas.openxmlformats.org/officeDocument/2006/relationships" id="259" r:id="Rf51ce9dc8eb64035"/>
    <p:sldId xmlns:r="http://schemas.openxmlformats.org/officeDocument/2006/relationships" id="260" r:id="Rec2f51634d3843c9"/>
    <p:sldId xmlns:r="http://schemas.openxmlformats.org/officeDocument/2006/relationships" id="261" r:id="R7d62f255e9284150"/>
    <p:sldId xmlns:r="http://schemas.openxmlformats.org/officeDocument/2006/relationships" id="262" r:id="R6d4fe8048c4d4896"/>
    <p:sldId xmlns:r="http://schemas.openxmlformats.org/officeDocument/2006/relationships" id="263" r:id="R1763b943cfea40fd"/>
    <p:sldId xmlns:r="http://schemas.openxmlformats.org/officeDocument/2006/relationships" id="264" r:id="R55e8a6c98f1b4fd8"/>
    <p:sldId xmlns:r="http://schemas.openxmlformats.org/officeDocument/2006/relationships" id="265" r:id="R868982f491914a34"/>
    <p:sldId xmlns:r="http://schemas.openxmlformats.org/officeDocument/2006/relationships" id="266" r:id="R3cdc332b48124e30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d9573ad09f47ea" /><Relationship Type="http://schemas.openxmlformats.org/officeDocument/2006/relationships/theme" Target="/ppt/theme/theme1.xml" Id="R943bb56f7ee947c8" /><Relationship Type="http://schemas.openxmlformats.org/officeDocument/2006/relationships/notesMaster" Target="/ppt/notesMasters/notesMaster1.xml" Id="Ra4c631589e54472e" /><Relationship Type="http://schemas.openxmlformats.org/officeDocument/2006/relationships/presProps" Target="/ppt/presProps.xml" Id="R3cd32006830345f0" /><Relationship Type="http://schemas.openxmlformats.org/officeDocument/2006/relationships/viewProps" Target="/ppt/viewProps.xml" Id="R92d652c0bc024800" /><Relationship Type="http://schemas.openxmlformats.org/officeDocument/2006/relationships/tableStyles" Target="/ppt/tableStyles.xml" Id="R93e4c1b7dfed4099" /><Relationship Type="http://schemas.openxmlformats.org/officeDocument/2006/relationships/slide" Target="/ppt/slides/slide1.xml" Id="Rb9c0ed5a9e964ba3" /><Relationship Type="http://schemas.openxmlformats.org/officeDocument/2006/relationships/slide" Target="/ppt/slides/slide2.xml" Id="R4084a050a472420b" /><Relationship Type="http://schemas.openxmlformats.org/officeDocument/2006/relationships/slide" Target="/ppt/slides/slide3.xml" Id="R31431bfec0244cc6" /><Relationship Type="http://schemas.openxmlformats.org/officeDocument/2006/relationships/slide" Target="/ppt/slides/slide4.xml" Id="Rf51ce9dc8eb64035" /><Relationship Type="http://schemas.openxmlformats.org/officeDocument/2006/relationships/slide" Target="/ppt/slides/slide5.xml" Id="Rec2f51634d3843c9" /><Relationship Type="http://schemas.openxmlformats.org/officeDocument/2006/relationships/slide" Target="/ppt/slides/slide6.xml" Id="R7d62f255e9284150" /><Relationship Type="http://schemas.openxmlformats.org/officeDocument/2006/relationships/slide" Target="/ppt/slides/slide7.xml" Id="R6d4fe8048c4d4896" /><Relationship Type="http://schemas.openxmlformats.org/officeDocument/2006/relationships/slide" Target="/ppt/slides/slide8.xml" Id="R1763b943cfea40fd" /><Relationship Type="http://schemas.openxmlformats.org/officeDocument/2006/relationships/slide" Target="/ppt/slides/slide9.xml" Id="R55e8a6c98f1b4fd8" /><Relationship Type="http://schemas.openxmlformats.org/officeDocument/2006/relationships/slide" Target="/ppt/slides/slide10.xml" Id="R868982f491914a34" /><Relationship Type="http://schemas.openxmlformats.org/officeDocument/2006/relationships/slide" Target="/ppt/slides/slide11.xml" Id="R3cdc332b48124e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1e47d56e21e40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c4dddd29554f6b" /><Relationship Type="http://schemas.openxmlformats.org/officeDocument/2006/relationships/notesMaster" Target="/ppt/notesMasters/notesMaster1.xml" Id="R96c0c585d28a40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0ce91b74104b62" /><Relationship Type="http://schemas.openxmlformats.org/officeDocument/2006/relationships/notesMaster" Target="/ppt/notesMasters/notesMaster1.xml" Id="R2a5bd57848f442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15299f18294e12" /><Relationship Type="http://schemas.openxmlformats.org/officeDocument/2006/relationships/notesMaster" Target="/ppt/notesMasters/notesMaster1.xml" Id="Rcd8510fa063349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817b3eed1e4be1" /><Relationship Type="http://schemas.openxmlformats.org/officeDocument/2006/relationships/notesMaster" Target="/ppt/notesMasters/notesMaster1.xml" Id="Rc48ea8f7536a47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db45af8b6f4b4b" /><Relationship Type="http://schemas.openxmlformats.org/officeDocument/2006/relationships/notesMaster" Target="/ppt/notesMasters/notesMaster1.xml" Id="R5783fe05228e49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a1c7fcc8b84283" /><Relationship Type="http://schemas.openxmlformats.org/officeDocument/2006/relationships/notesMaster" Target="/ppt/notesMasters/notesMaster1.xml" Id="R9d711b53f3ea42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477a6fe1674179" /><Relationship Type="http://schemas.openxmlformats.org/officeDocument/2006/relationships/notesMaster" Target="/ppt/notesMasters/notesMaster1.xml" Id="R7db9ca17494044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8d26434ab9472b" /><Relationship Type="http://schemas.openxmlformats.org/officeDocument/2006/relationships/notesMaster" Target="/ppt/notesMasters/notesMaster1.xml" Id="Rc6ef48ce2ee64e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46531ec1f14ed8" /><Relationship Type="http://schemas.openxmlformats.org/officeDocument/2006/relationships/notesMaster" Target="/ppt/notesMasters/notesMaster1.xml" Id="R10cf6cc14ff44a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9d626cb3e54332" /><Relationship Type="http://schemas.openxmlformats.org/officeDocument/2006/relationships/notesMaster" Target="/ppt/notesMasters/notesMaster1.xml" Id="Ra77eeea819d2462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48192623c942ea" /><Relationship Type="http://schemas.openxmlformats.org/officeDocument/2006/relationships/notesMaster" Target="/ppt/notesMasters/notesMaster1.xml" Id="R2f7c2132a18e47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3225ef41d9456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1e75a1514974ab0" /><Relationship Type="http://schemas.openxmlformats.org/officeDocument/2006/relationships/slideLayout" Target="/ppt/slideLayouts/slideLayout2.xml" Id="Rff97526b1b6b42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97526b1b6b42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bf716237bf46f1" /><Relationship Type="http://schemas.openxmlformats.org/officeDocument/2006/relationships/notesSlide" Target="/ppt/notesSlides/notesSlide1.xml" Id="R68841cbd12be46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1a7f548cd844fa" /><Relationship Type="http://schemas.openxmlformats.org/officeDocument/2006/relationships/notesSlide" Target="/ppt/notesSlides/notesSlide2.xml" Id="R3db4003dd45645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2461e00edb4dc6" /><Relationship Type="http://schemas.openxmlformats.org/officeDocument/2006/relationships/notesSlide" Target="/ppt/notesSlides/notesSlide3.xml" Id="R5b67c18c86d543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41398c4eb64252" /><Relationship Type="http://schemas.openxmlformats.org/officeDocument/2006/relationships/notesSlide" Target="/ppt/notesSlides/notesSlide4.xml" Id="R8ce7f8376e264b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232752afaa4d4d" /><Relationship Type="http://schemas.openxmlformats.org/officeDocument/2006/relationships/notesSlide" Target="/ppt/notesSlides/notesSlide5.xml" Id="Rf2f9749529ee44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97435c441c4734" /><Relationship Type="http://schemas.openxmlformats.org/officeDocument/2006/relationships/notesSlide" Target="/ppt/notesSlides/notesSlide6.xml" Id="R148564a9dc7246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f8a962cadb498a" /><Relationship Type="http://schemas.openxmlformats.org/officeDocument/2006/relationships/notesSlide" Target="/ppt/notesSlides/notesSlide7.xml" Id="R065f21225f0c4e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a95f94e7794842" /><Relationship Type="http://schemas.openxmlformats.org/officeDocument/2006/relationships/notesSlide" Target="/ppt/notesSlides/notesSlide8.xml" Id="R48d452e5903543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63eaae62b24baf" /><Relationship Type="http://schemas.openxmlformats.org/officeDocument/2006/relationships/notesSlide" Target="/ppt/notesSlides/notesSlide9.xml" Id="Rf808df2930ad47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5a8b912a344cb8" /><Relationship Type="http://schemas.openxmlformats.org/officeDocument/2006/relationships/notesSlide" Target="/ppt/notesSlides/notesSlide10.xml" Id="Rca7c74046d6842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ec117317fc407e" /><Relationship Type="http://schemas.openxmlformats.org/officeDocument/2006/relationships/notesSlide" Target="/ppt/notesSlides/notesSlide11.xml" Id="R6f51a95257cb43a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05EE98-0C57-4529-8065-51D14278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2" name="pill-MULTI-TENANT">
            <a:extLst xmlns:a="http://schemas.openxmlformats.org/drawingml/2006/main">
              <a:ext uri="{FF2B5EF4-FFF2-40B4-BE49-F238E27FC236}">
                <a16:creationId xmlns:a16="http://schemas.microsoft.com/office/drawing/2014/main" id="{6AEEB9E2-5700-4E55-9EB6-6E46A4E4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0888"/>
            <a:ext cx="21145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86"/>
          </a:solidFill>
          <a:ln xmlns:a="http://schemas.openxmlformats.org/drawingml/2006/main" w="0">
            <a:solidFill>
              <a:srgbClr val="0E8A8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E0E7C-2A2F-4ED8-820D-F56C796C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1790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MULTI-TENANT</a:t>
            </a:r>
          </a:p>
        </p:txBody>
      </p:sp>
      <p:sp>
        <p:nvSpPr>
          <p:cNvPr id="4" name="pill-DOCKER RUNTIME">
            <a:extLst xmlns:a="http://schemas.openxmlformats.org/drawingml/2006/main">
              <a:ext uri="{FF2B5EF4-FFF2-40B4-BE49-F238E27FC236}">
                <a16:creationId xmlns:a16="http://schemas.microsoft.com/office/drawing/2014/main" id="{E2BA43F5-EDE1-4F1D-8E31-A268C564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90888"/>
            <a:ext cx="23241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5C47"/>
          </a:solidFill>
          <a:ln xmlns:a="http://schemas.openxmlformats.org/drawingml/2006/main" w="0">
            <a:solidFill>
              <a:srgbClr val="E65C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AA73D-22DD-4F75-8186-2E704FC3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09950"/>
            <a:ext cx="1981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DOCKER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D045E-92CC-40E2-972D-56264B9A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864870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 i="0">
                <a:solidFill>
                  <a:srgbClr val="FFFFFF"/>
                </a:solidFill>
              </a:defRPr>
            </a:pPr>
            <a:r>
              <a:rPr sz="5700" b="1" i="0">
                <a:solidFill>
                  <a:srgbClr val="FFFFFF"/>
                </a:solidFill>
              </a:rPr>
              <a:t>CloudCLI</a:t>
            </a:r>
          </a:p>
          <a:p xmlns:a="http://schemas.openxmlformats.org/drawingml/2006/main">
            <a:pPr>
              <a:defRPr sz="5700" b="1" i="0">
                <a:solidFill>
                  <a:srgbClr val="FFFFFF"/>
                </a:solidFill>
              </a:defRPr>
            </a:pPr>
            <a:r>
              <a:rPr sz="5700" b="1" i="0">
                <a:solidFill>
                  <a:srgbClr val="FFFFFF"/>
                </a:solidFill>
              </a:rPr>
              <a:t>多租运行时架构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A8745-AA05-407B-8FE8-AD456B2A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8458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C8D3E1"/>
                </a:solidFill>
              </a:defRPr>
            </a:pPr>
            <a:r>
              <a:rPr sz="2175" b="0" i="0">
                <a:solidFill>
                  <a:srgbClr val="C8D3E1"/>
                </a:solidFill>
              </a:rPr>
              <a:t>把 Claude Code CLI 从同机进程收束为租户、用户、工作区、session 级容器边界。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E5EC3-1FDF-4233-B617-EE1FB8E3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0"/>
            <a:ext cx="400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F2A54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2D2A5E-4D9A-4C82-8C11-E0CEBAD0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81800"/>
            <a:ext cx="864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91A4BA"/>
                </a:solidFill>
              </a:defRPr>
            </a:pPr>
            <a:r>
              <a:rPr sz="1725" b="0" i="0">
                <a:solidFill>
                  <a:srgbClr val="91A4BA"/>
                </a:solidFill>
              </a:rPr>
              <a:t>基于当前分支的多租与 Docker 权限控制改动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4F7BA8-9523-408D-8F8A-041F904C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217" y="3295650"/>
            <a:ext cx="7369683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01A2C"/>
          </a:solidFill>
          <a:ln xmlns:a="http://schemas.openxmlformats.org/drawingml/2006/main" w="19050">
            <a:solidFill>
              <a:srgbClr val="2031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CA949-5958-450A-BD0B-8700AB97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505200"/>
            <a:ext cx="6838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E7EDF6"/>
                </a:solidFill>
              </a:defRPr>
            </a:pPr>
            <a:r>
              <a:rPr sz="1800" b="1" i="0">
                <a:solidFill>
                  <a:srgbClr val="E7EDF6"/>
                </a:solidFill>
              </a:rPr>
              <a:t>tenant_id + user_id + workspace_id + provider + provider_session_id</a:t>
            </a:r>
          </a:p>
        </p:txBody>
      </p:sp>
      <p:sp>
        <p:nvSpPr>
          <p:cNvPr id="12" name="node-Tenant">
            <a:extLst xmlns:a="http://schemas.openxmlformats.org/drawingml/2006/main">
              <a:ext uri="{FF2B5EF4-FFF2-40B4-BE49-F238E27FC236}">
                <a16:creationId xmlns:a16="http://schemas.microsoft.com/office/drawing/2014/main" id="{5B755137-54AF-43CB-9F7F-39EF8B3B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217" y="4514850"/>
            <a:ext cx="1428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1A2C"/>
          </a:solidFill>
          <a:ln xmlns:a="http://schemas.openxmlformats.org/drawingml/2006/main" w="19050">
            <a:solidFill>
              <a:srgbClr val="0E8A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7810F-225C-46CA-A95B-8EB8CCB0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7434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86"/>
          </a:solidFill>
          <a:ln xmlns:a="http://schemas.openxmlformats.org/drawingml/2006/main" w="0">
            <a:solidFill>
              <a:srgbClr val="0E8A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E9AFA8-4638-4A3B-BA90-BC0C35F2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686300"/>
            <a:ext cx="781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Tenant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A708AF-FDEC-47D4-94B6-6E184992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010150"/>
            <a:ext cx="1009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FC0D4"/>
                </a:solidFill>
              </a:defRPr>
            </a:pPr>
            <a:r>
              <a:rPr sz="1275" b="0" i="0">
                <a:solidFill>
                  <a:srgbClr val="AFC0D4"/>
                </a:solidFill>
              </a:rPr>
              <a:t>租户上下文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4B85F-014A-44A7-892E-C1670BBE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49149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371"/>
          </a:solidFill>
          <a:ln xmlns:a="http://schemas.openxmlformats.org/drawingml/2006/main" w="0">
            <a:solidFill>
              <a:srgbClr val="40537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CF439B-061F-4FA2-83F6-9BA1F023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02920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405371"/>
                </a:solidFill>
              </a:defRPr>
            </a:pPr>
            <a:r>
              <a:rPr sz="1800" b="1" i="0">
                <a:solidFill>
                  <a:srgbClr val="405371"/>
                </a:solidFill>
              </a:rPr>
              <a:t>&gt;</a:t>
            </a:r>
          </a:p>
        </p:txBody>
      </p:sp>
      <p:sp>
        <p:nvSpPr>
          <p:cNvPr id="18" name="node-Workspace">
            <a:extLst xmlns:a="http://schemas.openxmlformats.org/drawingml/2006/main">
              <a:ext uri="{FF2B5EF4-FFF2-40B4-BE49-F238E27FC236}">
                <a16:creationId xmlns:a16="http://schemas.microsoft.com/office/drawing/2014/main" id="{40360F2F-8C5A-4893-9B04-75E65D3B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7067" y="4514850"/>
            <a:ext cx="2190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1A2C"/>
          </a:solidFill>
          <a:ln xmlns:a="http://schemas.openxmlformats.org/drawingml/2006/main" w="19050">
            <a:solidFill>
              <a:srgbClr val="3057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8B6B45-5E8A-43BE-9ADD-B537E8E5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47434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57C8"/>
          </a:solidFill>
          <a:ln xmlns:a="http://schemas.openxmlformats.org/drawingml/2006/main" w="0">
            <a:solidFill>
              <a:srgbClr val="3057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56E782-5DC8-421B-91A5-24A39906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4686300"/>
            <a:ext cx="1543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Workspace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21F890-C0E3-4A69-8F9A-4887A892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5010150"/>
            <a:ext cx="1771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FC0D4"/>
                </a:solidFill>
              </a:defRPr>
            </a:pPr>
            <a:r>
              <a:rPr sz="1275" b="0" i="0">
                <a:solidFill>
                  <a:srgbClr val="AFC0D4"/>
                </a:solidFill>
              </a:rPr>
              <a:t>授权目录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B2ADB4-9FF1-4B87-8BD5-99E90D66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49149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371"/>
          </a:solidFill>
          <a:ln xmlns:a="http://schemas.openxmlformats.org/drawingml/2006/main" w="0">
            <a:solidFill>
              <a:srgbClr val="40537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40C394-D18D-44A9-B952-CBFD5D08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1850" y="502920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405371"/>
                </a:solidFill>
              </a:defRPr>
            </a:pPr>
            <a:r>
              <a:rPr sz="1800" b="1" i="0">
                <a:solidFill>
                  <a:srgbClr val="405371"/>
                </a:solidFill>
              </a:rPr>
              <a:t>&gt;</a:t>
            </a:r>
          </a:p>
        </p:txBody>
      </p:sp>
      <p:sp>
        <p:nvSpPr>
          <p:cNvPr id="24" name="node-Runtime">
            <a:extLst xmlns:a="http://schemas.openxmlformats.org/drawingml/2006/main">
              <a:ext uri="{FF2B5EF4-FFF2-40B4-BE49-F238E27FC236}">
                <a16:creationId xmlns:a16="http://schemas.microsoft.com/office/drawing/2014/main" id="{58AF1D1A-94FE-4958-97DA-E18169A1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7917" y="4514850"/>
            <a:ext cx="1752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1A2C"/>
          </a:solidFill>
          <a:ln xmlns:a="http://schemas.openxmlformats.org/drawingml/2006/main" w="19050">
            <a:solidFill>
              <a:srgbClr val="F2A54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79BF59-2CCD-4D84-A5CC-B44F807E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0" y="47434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F2A54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44322A-C67F-4C98-9494-02D5E59A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4686300"/>
            <a:ext cx="1104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Runtime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E2956C-F261-4E7C-A9E1-6FBA26C2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0" y="5010150"/>
            <a:ext cx="133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FC0D4"/>
                </a:solidFill>
              </a:defRPr>
            </a:pPr>
            <a:r>
              <a:rPr sz="1275" b="0" i="0">
                <a:solidFill>
                  <a:srgbClr val="AFC0D4"/>
                </a:solidFill>
              </a:rPr>
              <a:t>持久 home</a:t>
            </a:r>
          </a:p>
        </p:txBody>
      </p:sp>
      <p:sp>
        <p:nvSpPr>
          <p:cNvPr id="28" name="node-Wrapper">
            <a:extLst xmlns:a="http://schemas.openxmlformats.org/drawingml/2006/main">
              <a:ext uri="{FF2B5EF4-FFF2-40B4-BE49-F238E27FC236}">
                <a16:creationId xmlns:a16="http://schemas.microsoft.com/office/drawing/2014/main" id="{5F260AF5-A405-4201-A339-8F3259F6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8217" y="5867400"/>
            <a:ext cx="16764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1A2C"/>
          </a:solidFill>
          <a:ln xmlns:a="http://schemas.openxmlformats.org/drawingml/2006/main" w="19050">
            <a:solidFill>
              <a:srgbClr val="E65C4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2A049E-D765-4D61-83E8-CA197E7D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0960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5C47"/>
          </a:solidFill>
          <a:ln xmlns:a="http://schemas.openxmlformats.org/drawingml/2006/main" w="0">
            <a:solidFill>
              <a:srgbClr val="E65C4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204CFB-F282-45CC-9CB6-99CAAA34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03885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Wrapper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DECF33-5570-4DC9-ABB9-8FEFA3D0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63627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FC0D4"/>
                </a:solidFill>
              </a:defRPr>
            </a:pPr>
            <a:r>
              <a:rPr sz="1275" b="0" i="0">
                <a:solidFill>
                  <a:srgbClr val="AFC0D4"/>
                </a:solidFill>
              </a:rPr>
              <a:t>docker exec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EAA75A-79E7-4028-9909-27F5D6D5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6267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371"/>
          </a:solidFill>
          <a:ln xmlns:a="http://schemas.openxmlformats.org/drawingml/2006/main" w="0">
            <a:solidFill>
              <a:srgbClr val="40537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9F231D-EAFB-4D17-BE19-A3084987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638175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405371"/>
                </a:solidFill>
              </a:defRPr>
            </a:pPr>
            <a:r>
              <a:rPr sz="1800" b="1" i="0">
                <a:solidFill>
                  <a:srgbClr val="405371"/>
                </a:solidFill>
              </a:rPr>
              <a:t>&gt;</a:t>
            </a:r>
          </a:p>
        </p:txBody>
      </p:sp>
      <p:sp>
        <p:nvSpPr>
          <p:cNvPr id="34" name="node-Container">
            <a:extLst xmlns:a="http://schemas.openxmlformats.org/drawingml/2006/main">
              <a:ext uri="{FF2B5EF4-FFF2-40B4-BE49-F238E27FC236}">
                <a16:creationId xmlns:a16="http://schemas.microsoft.com/office/drawing/2014/main" id="{12CAF86A-0DAA-432F-8F00-8C37A1A1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4717" y="5867400"/>
            <a:ext cx="1809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1A2C"/>
          </a:solidFill>
          <a:ln xmlns:a="http://schemas.openxmlformats.org/drawingml/2006/main" w="19050">
            <a:solidFill>
              <a:srgbClr val="2F7D5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019635-1107-4471-B1D1-065099B0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60960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4"/>
          </a:solidFill>
          <a:ln xmlns:a="http://schemas.openxmlformats.org/drawingml/2006/main" w="0">
            <a:solidFill>
              <a:srgbClr val="2F7D5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AFDDF2-0F92-442A-9641-960BEA1F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6038850"/>
            <a:ext cx="1162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Container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C21375-41D2-4ACB-88B1-A8E68408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6362700"/>
            <a:ext cx="1390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FC0D4"/>
                </a:solidFill>
              </a:defRPr>
            </a:pPr>
            <a:r>
              <a:rPr sz="1275" b="0" i="0">
                <a:solidFill>
                  <a:srgbClr val="AFC0D4"/>
                </a:solidFill>
              </a:rPr>
              <a:t>/workspace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F21ADD-72B8-4C34-BACE-4B66A36D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6267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371"/>
          </a:solidFill>
          <a:ln xmlns:a="http://schemas.openxmlformats.org/drawingml/2006/main" w="0">
            <a:solidFill>
              <a:srgbClr val="40537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B94F9A-9C6F-4942-AC4F-449D1624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638175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405371"/>
                </a:solidFill>
              </a:defRPr>
            </a:pPr>
            <a:r>
              <a:rPr sz="1800" b="1" i="0">
                <a:solidFill>
                  <a:srgbClr val="405371"/>
                </a:solidFill>
              </a:rPr>
              <a:t>&gt;</a:t>
            </a:r>
          </a:p>
        </p:txBody>
      </p:sp>
      <p:sp>
        <p:nvSpPr>
          <p:cNvPr id="40" name="node-Claude CLI">
            <a:extLst xmlns:a="http://schemas.openxmlformats.org/drawingml/2006/main">
              <a:ext uri="{FF2B5EF4-FFF2-40B4-BE49-F238E27FC236}">
                <a16:creationId xmlns:a16="http://schemas.microsoft.com/office/drawing/2014/main" id="{9598C828-702F-4D21-9F4B-74D6297D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4567" y="5867400"/>
            <a:ext cx="2038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1A2C"/>
          </a:solidFill>
          <a:ln xmlns:a="http://schemas.openxmlformats.org/drawingml/2006/main" w="19050">
            <a:solidFill>
              <a:srgbClr val="6D5BD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8161BE-C28C-4A7E-B471-0F408EB1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60960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B9915D-F31F-4D56-8B00-804D3D9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0" y="6038850"/>
            <a:ext cx="1390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Claude CLI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3C95BC-16D2-4DF8-BEAE-10F4D217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6362700"/>
            <a:ext cx="1619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FC0D4"/>
                </a:solidFill>
              </a:defRPr>
            </a:pPr>
            <a:r>
              <a:rPr sz="1275" b="0" i="0">
                <a:solidFill>
                  <a:srgbClr val="AFC0D4"/>
                </a:solidFill>
              </a:rPr>
              <a:t>受控访问</a:t>
            </a:r>
          </a:p>
        </p:txBody>
      </p:sp>
    </p:spTree>
    <p:extLst>
      <p:ext uri="{BB962C8B-B14F-4D97-AF65-F5344CB8AC3E}">
        <p14:creationId xmlns:p14="http://schemas.microsoft.com/office/powerpoint/2010/main" val="15170389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C5CCA8A-1A4B-4CDB-941F-1EF1D6E5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6D653-0686-41F8-A5D4-F8E2033E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"/>
            <a:ext cx="1680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E8A86"/>
                </a:solidFill>
              </a:defRPr>
            </a:pPr>
            <a:r>
              <a:rPr sz="1425" b="1" i="0">
                <a:solidFill>
                  <a:srgbClr val="0E8A86"/>
                </a:solidFill>
              </a:rPr>
              <a:t>01 / SECURITY MOTIVE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FE2095-E5EE-45F8-9E19-3B5814A3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16802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11827"/>
                </a:solidFill>
              </a:defRPr>
            </a:pPr>
            <a:r>
              <a:rPr sz="4050" b="1" i="0">
                <a:solidFill>
                  <a:srgbClr val="111827"/>
                </a:solidFill>
              </a:rPr>
              <a:t>旧边界不等于租户隔离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B9F1D-CA67-4E17-BD2D-50CEE858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74485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38465A"/>
                </a:solidFill>
              </a:defRPr>
            </a:pPr>
            <a:r>
              <a:rPr sz="1800" b="0" i="0">
                <a:solidFill>
                  <a:srgbClr val="38465A"/>
                </a:solidFill>
              </a:rPr>
              <a:t>授权了 workspace，不代表 Claude Code CLI 进程只能看到 workspace。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D5667-7CC9-47B8-9DA8-FC499EC0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8153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E65C47"/>
                </a:solidFill>
              </a:defRPr>
            </a:pPr>
            <a:r>
              <a:rPr sz="2325" b="1" i="0">
                <a:solidFill>
                  <a:srgbClr val="E65C47"/>
                </a:solidFill>
              </a:rPr>
              <a:t>Before: host 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A65D3-4322-4DE9-872C-524276D6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28850"/>
            <a:ext cx="8153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0E8A86"/>
                </a:solidFill>
              </a:defRPr>
            </a:pPr>
            <a:r>
              <a:rPr sz="2325" b="1" i="0">
                <a:solidFill>
                  <a:srgbClr val="0E8A86"/>
                </a:solidFill>
              </a:rPr>
              <a:t>After: session runtime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5C622-14EF-47DE-99C3-E9EE5351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8153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E65C47"/>
                </a:solidFill>
              </a:defRPr>
            </a:pPr>
            <a:r>
              <a:rPr sz="4050" b="1" i="0">
                <a:solidFill>
                  <a:srgbClr val="E65C47"/>
                </a:solidFill>
              </a:rPr>
              <a:t>same host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AC02C-FAFB-42DE-B883-5B55DA50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8153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38465A"/>
                </a:solidFill>
              </a:defRPr>
            </a:pPr>
            <a:r>
              <a:rPr sz="1650" b="0" i="0">
                <a:solidFill>
                  <a:srgbClr val="38465A"/>
                </a:solidFill>
              </a:rPr>
              <a:t>CloudCLI server 同用户权限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037EC-1346-436B-82E0-9F1552C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3"/>
          </a:solidFill>
          <a:ln xmlns:a="http://schemas.openxmlformats.org/drawingml/2006/main" w="0">
            <a:solidFill>
              <a:srgbClr val="CBD7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F14A0-3B7A-4CB9-BDE5-B0E675E4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8153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243244"/>
                </a:solidFill>
              </a:defRPr>
            </a:pPr>
            <a:r>
              <a:rPr sz="1950" b="0" i="0">
                <a:solidFill>
                  <a:srgbClr val="243244"/>
                </a:solidFill>
              </a:rPr>
              <a:t>风险面：父级 repo、其他租户目录、host ~/.claude、全局 MCP/配置、应用数据库。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EA187D-2147-4129-B01D-1936FE1D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00350"/>
            <a:ext cx="8153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E8A86"/>
                </a:solidFill>
              </a:defRPr>
            </a:pPr>
            <a:r>
              <a:rPr sz="4050" b="1" i="0">
                <a:solidFill>
                  <a:srgbClr val="0E8A86"/>
                </a:solidFill>
              </a:rPr>
              <a:t>2 mounts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EB7A98-2E36-4085-A9B4-30225547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90900"/>
            <a:ext cx="8153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38465A"/>
                </a:solidFill>
              </a:defRPr>
            </a:pPr>
            <a:r>
              <a:rPr sz="1650" b="0" i="0">
                <a:solidFill>
                  <a:srgbClr val="38465A"/>
                </a:solidFill>
              </a:rPr>
              <a:t>Claude 只进入两个挂载点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BE7A4-E358-4B78-B75C-095240F7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90950"/>
            <a:ext cx="815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3"/>
          </a:solidFill>
          <a:ln xmlns:a="http://schemas.openxmlformats.org/drawingml/2006/main" w="0">
            <a:solidFill>
              <a:srgbClr val="CBD7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101EEA-7DDF-422F-AD2C-D34ADD02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00500"/>
            <a:ext cx="8153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243244"/>
                </a:solidFill>
              </a:defRPr>
            </a:pPr>
            <a:r>
              <a:rPr sz="1950" b="0" i="0">
                <a:solidFill>
                  <a:srgbClr val="243244"/>
                </a:solidFill>
              </a:rPr>
              <a:t>目标：/workspace 是当前授权工作区，/home/cloudcli 是该 session 的 runtime home。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F216F-D336-4C0D-BA28-7BBE5838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601200"/>
            <a:ext cx="16802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B8795"/>
                </a:solidFill>
              </a:defRPr>
            </a:pPr>
            <a:r>
              <a:rPr sz="975" b="0" i="0">
                <a:solidFill>
                  <a:srgbClr val="7B8795"/>
                </a:solidFill>
              </a:rPr>
              <a:t>Sources: docs/superpowers/specs/2026-04-26-claude-docker-session-runtime-design.md; server/claude-sdk.js</a:t>
            </a:r>
          </a:p>
        </p:txBody>
      </p:sp>
    </p:spTree>
    <p:extLst>
      <p:ext uri="{BB962C8B-B14F-4D97-AF65-F5344CB8AC3E}">
        <p14:creationId xmlns:p14="http://schemas.microsoft.com/office/powerpoint/2010/main" val="20262416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980D96A-BEAD-4BFE-BD28-73F1549C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2897F-914C-4200-8A2F-651866D3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"/>
            <a:ext cx="1680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E8A86"/>
                </a:solidFill>
              </a:defRPr>
            </a:pPr>
            <a:r>
              <a:rPr sz="1425" b="1" i="0">
                <a:solidFill>
                  <a:srgbClr val="0E8A86"/>
                </a:solidFill>
              </a:rPr>
              <a:t>02 / REQUEST PATH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B7F3B4-71CA-42C8-9A12-C9E596C1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16802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11827"/>
                </a:solidFill>
              </a:defRPr>
            </a:pPr>
            <a:r>
              <a:rPr sz="4050" b="1" i="0">
                <a:solidFill>
                  <a:srgbClr val="111827"/>
                </a:solidFill>
              </a:rPr>
              <a:t>端到端链路：从 UI 到容器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D71D9-5092-458C-AAB6-D1747095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699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38465A"/>
                </a:solidFill>
              </a:defRPr>
            </a:pPr>
            <a:r>
              <a:rPr sz="1800" b="0" i="0">
                <a:solidFill>
                  <a:srgbClr val="38465A"/>
                </a:solidFill>
              </a:rPr>
              <a:t>核心变化不是新增 Docker，而是把授权上下文一路传到 CLI 执行面。</a:t>
            </a:r>
          </a:p>
        </p:txBody>
      </p:sp>
      <p:sp>
        <p:nvSpPr>
          <p:cNvPr id="5" name="node-Frontend">
            <a:extLst xmlns:a="http://schemas.openxmlformats.org/drawingml/2006/main">
              <a:ext uri="{FF2B5EF4-FFF2-40B4-BE49-F238E27FC236}">
                <a16:creationId xmlns:a16="http://schemas.microsoft.com/office/drawing/2014/main" id="{E8D2F7B8-E86C-4ABE-B30C-14645272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2381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057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ED41B-6109-4737-A8BE-CC491194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57C8"/>
          </a:solidFill>
          <a:ln xmlns:a="http://schemas.openxmlformats.org/drawingml/2006/main" w="0">
            <a:solidFill>
              <a:srgbClr val="305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6BC56-C745-47C3-BCEF-24B2502A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1733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Frontend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20EA7-25F1-4775-A92E-A800C162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1962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8465A"/>
                </a:solidFill>
              </a:defRPr>
            </a:pPr>
            <a:r>
              <a:rPr sz="1275" b="0" i="0">
                <a:solidFill>
                  <a:srgbClr val="38465A"/>
                </a:solidFill>
              </a:rPr>
              <a:t>TenantContext / session store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3DD50F-EF86-4DD6-9851-D1F58D00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672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3"/>
          </a:solidFill>
          <a:ln xmlns:a="http://schemas.openxmlformats.org/drawingml/2006/main" w="0">
            <a:solidFill>
              <a:srgbClr val="CBD7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367683-E12B-463D-9A93-2B5F4DBD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8150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BD7E3"/>
                </a:solidFill>
              </a:defRPr>
            </a:pPr>
            <a:r>
              <a:rPr sz="1800" b="1" i="0">
                <a:solidFill>
                  <a:srgbClr val="CBD7E3"/>
                </a:solidFill>
              </a:rPr>
              <a:t>&gt;</a:t>
            </a:r>
          </a:p>
        </p:txBody>
      </p:sp>
      <p:sp>
        <p:nvSpPr>
          <p:cNvPr id="11" name="node-WebSocket">
            <a:extLst xmlns:a="http://schemas.openxmlformats.org/drawingml/2006/main">
              <a:ext uri="{FF2B5EF4-FFF2-40B4-BE49-F238E27FC236}">
                <a16:creationId xmlns:a16="http://schemas.microsoft.com/office/drawing/2014/main" id="{B651D290-C70B-47AC-93C0-3949E153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71900"/>
            <a:ext cx="2286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5B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D2EAC3-CA67-47FC-9011-4478612F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435985-A075-40D2-AA56-612E8D21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43350"/>
            <a:ext cx="1638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WebSocket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46153F-F877-4F5B-BA39-A2A83C52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67200"/>
            <a:ext cx="1866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8465A"/>
                </a:solidFill>
              </a:defRPr>
            </a:pPr>
            <a:r>
              <a:rPr sz="1275" b="0" i="0">
                <a:solidFill>
                  <a:srgbClr val="38465A"/>
                </a:solidFill>
              </a:rPr>
              <a:t>command + options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E965BD-96A4-475D-AD5C-A052AA1B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672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3"/>
          </a:solidFill>
          <a:ln xmlns:a="http://schemas.openxmlformats.org/drawingml/2006/main" w="0">
            <a:solidFill>
              <a:srgbClr val="CBD7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A5E8D7-BACE-484E-8791-05C7D257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8150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BD7E3"/>
                </a:solidFill>
              </a:defRPr>
            </a:pPr>
            <a:r>
              <a:rPr sz="1800" b="1" i="0">
                <a:solidFill>
                  <a:srgbClr val="CBD7E3"/>
                </a:solidFill>
              </a:rPr>
              <a:t>&gt;</a:t>
            </a:r>
          </a:p>
        </p:txBody>
      </p:sp>
      <p:sp>
        <p:nvSpPr>
          <p:cNvPr id="17" name="node-AuthZ">
            <a:extLst xmlns:a="http://schemas.openxmlformats.org/drawingml/2006/main">
              <a:ext uri="{FF2B5EF4-FFF2-40B4-BE49-F238E27FC236}">
                <a16:creationId xmlns:a16="http://schemas.microsoft.com/office/drawing/2014/main" id="{C906CD4A-7017-460A-80BF-D035BCAB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71900"/>
            <a:ext cx="2381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D5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B166D5-74E4-4742-8BA2-D9F01C54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005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4"/>
          </a:solidFill>
          <a:ln xmlns:a="http://schemas.openxmlformats.org/drawingml/2006/main" w="0">
            <a:solidFill>
              <a:srgbClr val="2F7D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6FE1A3-6F51-48AB-A0DC-5735B683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43350"/>
            <a:ext cx="1733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AuthZ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19AE1C-5159-43E2-A36A-B546DB24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67200"/>
            <a:ext cx="1962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8465A"/>
                </a:solidFill>
              </a:defRPr>
            </a:pPr>
            <a:r>
              <a:rPr sz="1275" b="0" i="0">
                <a:solidFill>
                  <a:srgbClr val="38465A"/>
                </a:solidFill>
              </a:rPr>
              <a:t>tenant + workspace edit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864C4F-1435-43F9-8A92-7787767B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2672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3"/>
          </a:solidFill>
          <a:ln xmlns:a="http://schemas.openxmlformats.org/drawingml/2006/main" w="0">
            <a:solidFill>
              <a:srgbClr val="CBD7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A9CA6C-DFF7-44C7-B1AC-CF811E26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8150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BD7E3"/>
                </a:solidFill>
              </a:defRPr>
            </a:pPr>
            <a:r>
              <a:rPr sz="1800" b="1" i="0">
                <a:solidFill>
                  <a:srgbClr val="CBD7E3"/>
                </a:solidFill>
              </a:rPr>
              <a:t>&gt;</a:t>
            </a:r>
          </a:p>
        </p:txBody>
      </p:sp>
      <p:sp>
        <p:nvSpPr>
          <p:cNvPr id="23" name="node-Runtime">
            <a:extLst xmlns:a="http://schemas.openxmlformats.org/drawingml/2006/main">
              <a:ext uri="{FF2B5EF4-FFF2-40B4-BE49-F238E27FC236}">
                <a16:creationId xmlns:a16="http://schemas.microsoft.com/office/drawing/2014/main" id="{9DB51660-04AB-4355-B9BF-E2D2B6C9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771900"/>
            <a:ext cx="2476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A54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AA3B24-4FF4-49CC-AC5E-658331D7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F2A54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9C7A0B-6C9F-492A-8841-8BBCA4DF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943350"/>
            <a:ext cx="1828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Runtime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47FCA5-4F0D-4451-B5FA-83FBDFA2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67200"/>
            <a:ext cx="2057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8465A"/>
                </a:solidFill>
              </a:defRPr>
            </a:pPr>
            <a:r>
              <a:rPr sz="1275" b="0" i="0">
                <a:solidFill>
                  <a:srgbClr val="38465A"/>
                </a:solidFill>
              </a:rPr>
              <a:t>row + home + wrapper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D40FF9-B655-458F-8486-9A9D3375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42672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3"/>
          </a:solidFill>
          <a:ln xmlns:a="http://schemas.openxmlformats.org/drawingml/2006/main" w="0">
            <a:solidFill>
              <a:srgbClr val="CBD7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C16325-E464-4B7C-AEAD-BE25C732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438150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BD7E3"/>
                </a:solidFill>
              </a:defRPr>
            </a:pPr>
            <a:r>
              <a:rPr sz="1800" b="1" i="0">
                <a:solidFill>
                  <a:srgbClr val="CBD7E3"/>
                </a:solidFill>
              </a:rPr>
              <a:t>&gt;</a:t>
            </a:r>
          </a:p>
        </p:txBody>
      </p:sp>
      <p:sp>
        <p:nvSpPr>
          <p:cNvPr id="29" name="node-Claude SDK">
            <a:extLst xmlns:a="http://schemas.openxmlformats.org/drawingml/2006/main">
              <a:ext uri="{FF2B5EF4-FFF2-40B4-BE49-F238E27FC236}">
                <a16:creationId xmlns:a16="http://schemas.microsoft.com/office/drawing/2014/main" id="{3F886030-91B0-4E44-B80B-D641AE43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3771900"/>
            <a:ext cx="2381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5C4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81632E-C664-47EC-AEB9-69E4E7EF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0005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5C47"/>
          </a:solidFill>
          <a:ln xmlns:a="http://schemas.openxmlformats.org/drawingml/2006/main" w="0">
            <a:solidFill>
              <a:srgbClr val="E65C4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14273E-4B37-46CB-B822-F425DDDE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3943350"/>
            <a:ext cx="1733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Claude SDK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A293BF-13CF-4CEB-A3EF-986B081B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267200"/>
            <a:ext cx="1962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8465A"/>
                </a:solidFill>
              </a:defRPr>
            </a:pPr>
            <a:r>
              <a:rPr sz="1275" b="0" i="0">
                <a:solidFill>
                  <a:srgbClr val="38465A"/>
                </a:solidFill>
              </a:rPr>
              <a:t>cwd + executable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473DAD-27F2-47C2-8E78-00D157BF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98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3"/>
          </a:solidFill>
          <a:ln xmlns:a="http://schemas.openxmlformats.org/drawingml/2006/main" w="0">
            <a:solidFill>
              <a:srgbClr val="CBD7E3"/>
            </a:solidFill>
            <a:prstDash val="solid"/>
          </a:ln>
        </p:spPr>
      </p:sp>
      <p:sp>
        <p:nvSpPr>
          <p:cNvPr id="34" name="node-Docker container">
            <a:extLst xmlns:a="http://schemas.openxmlformats.org/drawingml/2006/main">
              <a:ext uri="{FF2B5EF4-FFF2-40B4-BE49-F238E27FC236}">
                <a16:creationId xmlns:a16="http://schemas.microsoft.com/office/drawing/2014/main" id="{87ED407B-63CD-45E1-809F-CD746FFE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48300"/>
            <a:ext cx="4095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8A8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9C20BB-C48B-4F0B-B91F-69778308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769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86"/>
          </a:solidFill>
          <a:ln xmlns:a="http://schemas.openxmlformats.org/drawingml/2006/main" w="0">
            <a:solidFill>
              <a:srgbClr val="0E8A8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1D8EC4-521C-4A8B-A11E-ABA61ABF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619750"/>
            <a:ext cx="3448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Docker container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94D18D-0861-46BC-8621-ACA121DE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943600"/>
            <a:ext cx="3676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8465A"/>
                </a:solidFill>
              </a:defRPr>
            </a:pPr>
            <a:r>
              <a:rPr sz="1275" b="0" i="0">
                <a:solidFill>
                  <a:srgbClr val="38465A"/>
                </a:solidFill>
              </a:rPr>
              <a:t>claude runs in /workspace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F57993-42A5-44FB-95D8-D5E5516A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8674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3"/>
          </a:solidFill>
          <a:ln xmlns:a="http://schemas.openxmlformats.org/drawingml/2006/main" w="0">
            <a:solidFill>
              <a:srgbClr val="CBD7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79D713-D23F-4C1A-8D77-599545A5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98170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BD7E3"/>
                </a:solidFill>
              </a:defRPr>
            </a:pPr>
            <a:r>
              <a:rPr sz="1800" b="1" i="0">
                <a:solidFill>
                  <a:srgbClr val="CBD7E3"/>
                </a:solidFill>
              </a:rPr>
              <a:t>&gt;</a:t>
            </a:r>
          </a:p>
        </p:txBody>
      </p:sp>
      <p:sp>
        <p:nvSpPr>
          <p:cNvPr id="40" name="node-Message DB">
            <a:extLst xmlns:a="http://schemas.openxmlformats.org/drawingml/2006/main">
              <a:ext uri="{FF2B5EF4-FFF2-40B4-BE49-F238E27FC236}">
                <a16:creationId xmlns:a16="http://schemas.microsoft.com/office/drawing/2014/main" id="{94148E0A-4B34-439D-9DB2-A9F155E3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448300"/>
            <a:ext cx="3429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057C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9EF6C7-E886-420C-BA54-E94F22CA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6769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57C8"/>
          </a:solidFill>
          <a:ln xmlns:a="http://schemas.openxmlformats.org/drawingml/2006/main" w="0">
            <a:solidFill>
              <a:srgbClr val="3057C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51187E-C104-430C-94FC-C27BB8AE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19750"/>
            <a:ext cx="2781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Message DB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EC6BA5-FD01-4A82-8FD9-35F03F74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943600"/>
            <a:ext cx="3009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8465A"/>
                </a:solidFill>
              </a:defRPr>
            </a:pPr>
            <a:r>
              <a:rPr sz="1275" b="0" i="0">
                <a:solidFill>
                  <a:srgbClr val="38465A"/>
                </a:solidFill>
              </a:rPr>
              <a:t>normalized UI history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12CE33-AFB4-45F9-997B-27CF9C61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58674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3"/>
          </a:solidFill>
          <a:ln xmlns:a="http://schemas.openxmlformats.org/drawingml/2006/main" w="0">
            <a:solidFill>
              <a:srgbClr val="CBD7E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A26345-D1D0-4E91-9251-BAE44266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598170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BD7E3"/>
                </a:solidFill>
              </a:defRPr>
            </a:pPr>
            <a:r>
              <a:rPr sz="1800" b="1" i="0">
                <a:solidFill>
                  <a:srgbClr val="CBD7E3"/>
                </a:solidFill>
              </a:rPr>
              <a:t>&gt;</a:t>
            </a:r>
          </a:p>
        </p:txBody>
      </p:sp>
      <p:sp>
        <p:nvSpPr>
          <p:cNvPr id="46" name="node-Browser">
            <a:extLst xmlns:a="http://schemas.openxmlformats.org/drawingml/2006/main">
              <a:ext uri="{FF2B5EF4-FFF2-40B4-BE49-F238E27FC236}">
                <a16:creationId xmlns:a16="http://schemas.microsoft.com/office/drawing/2014/main" id="{B14DB5FA-E820-4633-A817-CD438A04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448300"/>
            <a:ext cx="3048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5BD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786A15-B3EE-4898-8A90-4AE4FBA5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56769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9BE607-35F4-445A-9710-C43D3274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5619750"/>
            <a:ext cx="2400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Browser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E566BFD-D104-4A99-B196-0823BC2E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5943600"/>
            <a:ext cx="2628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8465A"/>
                </a:solidFill>
              </a:defRPr>
            </a:pPr>
            <a:r>
              <a:rPr sz="1275" b="0" i="0">
                <a:solidFill>
                  <a:srgbClr val="38465A"/>
                </a:solidFill>
              </a:rPr>
              <a:t>server-first merge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4205170-D1BA-4411-97F2-62366E52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11372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11827"/>
                </a:solidFill>
              </a:defRPr>
            </a:pPr>
            <a:r>
              <a:rPr sz="2250" b="1" i="0">
                <a:solidFill>
                  <a:srgbClr val="111827"/>
                </a:solidFill>
              </a:rPr>
              <a:t>设计原则：API 层授权仍是第一道门，Docker runtime 是 CLI 工具执行面的第二道边界。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3ADD45F-63E3-476E-B585-74416A7B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601200"/>
            <a:ext cx="16802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B8795"/>
                </a:solidFill>
              </a:defRPr>
            </a:pPr>
            <a:r>
              <a:rPr sz="975" b="0" i="0">
                <a:solidFill>
                  <a:srgbClr val="7B8795"/>
                </a:solidFill>
              </a:rPr>
              <a:t>Sources: server/routes/messages.js; server/claude-sdk.js; server/services/agent-session-runtime.js; src/stores/sessionMerge.ts</a:t>
            </a:r>
          </a:p>
        </p:txBody>
      </p:sp>
    </p:spTree>
    <p:extLst>
      <p:ext uri="{BB962C8B-B14F-4D97-AF65-F5344CB8AC3E}">
        <p14:creationId xmlns:p14="http://schemas.microsoft.com/office/powerpoint/2010/main" val="13941972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8276F5E-1CE4-48D5-A3AF-93BFE9F3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10985-0263-486A-8C90-0549AA64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"/>
            <a:ext cx="1680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E8A86"/>
                </a:solidFill>
              </a:defRPr>
            </a:pPr>
            <a:r>
              <a:rPr sz="1425" b="1" i="0">
                <a:solidFill>
                  <a:srgbClr val="0E8A86"/>
                </a:solidFill>
              </a:rPr>
              <a:t>03 / DATA MODEL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53F3BD-F228-4C38-BC97-421846E6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16802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11827"/>
                </a:solidFill>
              </a:defRPr>
            </a:pPr>
            <a:r>
              <a:rPr sz="4050" b="1" i="0">
                <a:solidFill>
                  <a:srgbClr val="111827"/>
                </a:solidFill>
              </a:rPr>
              <a:t>多租数据模型负责“谁拥有什么”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DC681-9CB7-4EC3-9FF7-FCF5EB47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9086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38465A"/>
                </a:solidFill>
              </a:defRPr>
            </a:pPr>
            <a:r>
              <a:rPr sz="1800" b="0" i="0">
                <a:solidFill>
                  <a:srgbClr val="38465A"/>
                </a:solidFill>
              </a:rPr>
              <a:t>租户、工作区、session、runtime、消息历史拆成独立关系，避免把权限藏在文件路径里。</a:t>
            </a:r>
          </a:p>
        </p:txBody>
      </p:sp>
      <p:sp>
        <p:nvSpPr>
          <p:cNvPr id="5" name="node-tenants">
            <a:extLst xmlns:a="http://schemas.openxmlformats.org/drawingml/2006/main">
              <a:ext uri="{FF2B5EF4-FFF2-40B4-BE49-F238E27FC236}">
                <a16:creationId xmlns:a16="http://schemas.microsoft.com/office/drawing/2014/main" id="{9D5AF913-6AB1-4577-B1D6-3C1A732A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5905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8A8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1021F-3A7C-4C30-80C2-C313135C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86"/>
          </a:solidFill>
          <a:ln xmlns:a="http://schemas.openxmlformats.org/drawingml/2006/main" w="0">
            <a:solidFill>
              <a:srgbClr val="0E8A8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D83F9-52FA-4816-B452-A224871A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62350"/>
            <a:ext cx="5257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tenants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F5E22-FD36-406F-A01F-D26699D3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5486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8465A"/>
                </a:solidFill>
              </a:defRPr>
            </a:pPr>
            <a:r>
              <a:rPr sz="1275" b="0" i="0">
                <a:solidFill>
                  <a:srgbClr val="38465A"/>
                </a:solidFill>
              </a:rPr>
              <a:t>租户 code/name/status</a:t>
            </a:r>
          </a:p>
        </p:txBody>
      </p:sp>
      <p:sp>
        <p:nvSpPr>
          <p:cNvPr id="9" name="node-tenant_users">
            <a:extLst xmlns:a="http://schemas.openxmlformats.org/drawingml/2006/main">
              <a:ext uri="{FF2B5EF4-FFF2-40B4-BE49-F238E27FC236}">
                <a16:creationId xmlns:a16="http://schemas.microsoft.com/office/drawing/2014/main" id="{83310A4B-928A-41FB-9F81-5347652E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5905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D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44F95-784B-4FA2-883E-7D559B60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4"/>
          </a:solidFill>
          <a:ln xmlns:a="http://schemas.openxmlformats.org/drawingml/2006/main" w="0">
            <a:solidFill>
              <a:srgbClr val="2F7D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7CD65D-F471-4F06-9A08-39A81487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24400"/>
            <a:ext cx="5257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tenant_users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026E3-13A1-4C1D-ADDE-B2926233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5486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8465A"/>
                </a:solidFill>
              </a:defRPr>
            </a:pPr>
            <a:r>
              <a:rPr sz="1275" b="0" i="0">
                <a:solidFill>
                  <a:srgbClr val="38465A"/>
                </a:solidFill>
              </a:rPr>
              <a:t>用户角色 + view/edit 权限</a:t>
            </a:r>
          </a:p>
        </p:txBody>
      </p:sp>
      <p:sp>
        <p:nvSpPr>
          <p:cNvPr id="13" name="node-workspaces / workspace_acl">
            <a:extLst xmlns:a="http://schemas.openxmlformats.org/drawingml/2006/main">
              <a:ext uri="{FF2B5EF4-FFF2-40B4-BE49-F238E27FC236}">
                <a16:creationId xmlns:a16="http://schemas.microsoft.com/office/drawing/2014/main" id="{C949AA6F-0DF9-46D5-A2DB-4375F645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5905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057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9F1D8A-ACDE-4489-AADB-525CC672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436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57C8"/>
          </a:solidFill>
          <a:ln xmlns:a="http://schemas.openxmlformats.org/drawingml/2006/main" w="0">
            <a:solidFill>
              <a:srgbClr val="3057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675555-A097-4A1D-B2DF-E722EF07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886450"/>
            <a:ext cx="5257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workspaces / workspace_acl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604B8A-5903-480E-981C-69F54643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10300"/>
            <a:ext cx="5486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8465A"/>
                </a:solidFill>
              </a:defRPr>
            </a:pPr>
            <a:r>
              <a:rPr sz="1275" b="0" i="0">
                <a:solidFill>
                  <a:srgbClr val="38465A"/>
                </a:solidFill>
              </a:rPr>
              <a:t>目录所有者、共享、授权访问</a:t>
            </a:r>
          </a:p>
        </p:txBody>
      </p:sp>
      <p:sp>
        <p:nvSpPr>
          <p:cNvPr id="17" name="node-session_index">
            <a:extLst xmlns:a="http://schemas.openxmlformats.org/drawingml/2006/main">
              <a:ext uri="{FF2B5EF4-FFF2-40B4-BE49-F238E27FC236}">
                <a16:creationId xmlns:a16="http://schemas.microsoft.com/office/drawing/2014/main" id="{3A8D6E15-87DB-428A-98C0-0B74A84F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0400"/>
            <a:ext cx="5905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5B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B048F8-549E-407F-9741-3AE56845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B2B959-F975-409E-8ED2-06DF2379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181850"/>
            <a:ext cx="5257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session_index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ADD5C7-BD45-44BA-8D16-AB99CD24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05700"/>
            <a:ext cx="5486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8465A"/>
                </a:solidFill>
              </a:defRPr>
            </a:pPr>
            <a:r>
              <a:rPr sz="1275" b="0" i="0">
                <a:solidFill>
                  <a:srgbClr val="38465A"/>
                </a:solidFill>
              </a:rPr>
              <a:t>provider_session_id 所属租户/用户/工作区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AFA855-5C5A-4104-BB3C-9A0AB502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980" y="3476625"/>
            <a:ext cx="856107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2A54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42F044-D693-4689-B9C8-5295F891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33800"/>
            <a:ext cx="7981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11827"/>
                </a:solidFill>
              </a:defRPr>
            </a:pPr>
            <a:r>
              <a:rPr sz="2400" b="1" i="0">
                <a:solidFill>
                  <a:srgbClr val="111827"/>
                </a:solidFill>
              </a:rPr>
              <a:t>agent_session_runtime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1407C6-E0F0-49D8-9D73-3DFE7A0C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152900"/>
            <a:ext cx="7981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38465A"/>
                </a:solidFill>
              </a:defRPr>
            </a:pPr>
            <a:r>
              <a:rPr sz="1800" b="0" i="0">
                <a:solidFill>
                  <a:srgbClr val="38465A"/>
                </a:solidFill>
              </a:rPr>
              <a:t>runtime_id、container_name、image、workspace_host_path、runtime_home_path、status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E321CF-B515-4DF6-A7F0-DEDFD380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3980" y="5476875"/>
            <a:ext cx="856107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65C4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68D6D0-4C4A-4661-BCD8-1B4CF18C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734050"/>
            <a:ext cx="7981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11827"/>
                </a:solidFill>
              </a:defRPr>
            </a:pPr>
            <a:r>
              <a:rPr sz="2400" b="1" i="0">
                <a:solidFill>
                  <a:srgbClr val="111827"/>
                </a:solidFill>
              </a:rPr>
              <a:t>agent_session_messages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752A92-CCD9-4A88-8269-1967DF44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153150"/>
            <a:ext cx="7981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38465A"/>
                </a:solidFill>
              </a:defRPr>
            </a:pPr>
            <a:r>
              <a:rPr sz="1800" b="0" i="0">
                <a:solidFill>
                  <a:srgbClr val="38465A"/>
                </a:solidFill>
              </a:rPr>
              <a:t>按 runtime_id + message_id 幂等写入；provider_session_id 生成后再绑定。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BB5172-85EC-4F8F-B87B-F173A6D8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7486650"/>
            <a:ext cx="85534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243244"/>
                </a:solidFill>
              </a:defRPr>
            </a:pPr>
            <a:r>
              <a:rPr sz="2250" b="1" i="0">
                <a:solidFill>
                  <a:srgbClr val="243244"/>
                </a:solidFill>
              </a:rPr>
              <a:t>新的两张表把“容器运行态”和“UI 历史”从 Claude JSONL 中解耦出来。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C59AE4-91EA-4DA3-B55D-6B9A3681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601200"/>
            <a:ext cx="16802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B8795"/>
                </a:solidFill>
              </a:defRPr>
            </a:pPr>
            <a:r>
              <a:rPr sz="975" b="0" i="0">
                <a:solidFill>
                  <a:srgbClr val="7B8795"/>
                </a:solidFill>
              </a:rPr>
              <a:t>Sources: server/database/multitenancy-schema.js; server/database/multitenancy-db.js</a:t>
            </a:r>
          </a:p>
        </p:txBody>
      </p:sp>
    </p:spTree>
    <p:extLst>
      <p:ext uri="{BB962C8B-B14F-4D97-AF65-F5344CB8AC3E}">
        <p14:creationId xmlns:p14="http://schemas.microsoft.com/office/powerpoint/2010/main" val="11817110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49458A0-6A9F-4C60-BD04-B8430D1F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3C712-7812-4751-94C5-56D13E70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"/>
            <a:ext cx="1680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E8A86"/>
                </a:solidFill>
              </a:defRPr>
            </a:pPr>
            <a:r>
              <a:rPr sz="1425" b="1" i="0">
                <a:solidFill>
                  <a:srgbClr val="0E8A86"/>
                </a:solidFill>
              </a:rPr>
              <a:t>04 / RUNTIME BOUNDARY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8E4762-60F2-4063-806A-0D1E7B4E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16802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11827"/>
                </a:solidFill>
              </a:defRPr>
            </a:pPr>
            <a:r>
              <a:rPr sz="4050" b="1" i="0">
                <a:solidFill>
                  <a:srgbClr val="111827"/>
                </a:solidFill>
              </a:rPr>
              <a:t>Docker 只暴露被授权的运行面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70D47-DD51-4DEB-8A9A-40451E29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7486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38465A"/>
                </a:solidFill>
              </a:defRPr>
            </a:pPr>
            <a:r>
              <a:rPr sz="1800" b="0" i="0">
                <a:solidFill>
                  <a:srgbClr val="38465A"/>
                </a:solidFill>
              </a:rPr>
              <a:t>容器不是完整沙箱，但它把 Claude 工具调用能触达的主机文件面收窄了。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325E7-B26D-4346-87EB-DFD9CB00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68199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3057C8"/>
                </a:solidFill>
              </a:defRPr>
            </a:pPr>
            <a:r>
              <a:rPr sz="4050" b="1" i="0">
                <a:solidFill>
                  <a:srgbClr val="3057C8"/>
                </a:solidFill>
              </a:rPr>
              <a:t>local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47BFAC-C026-4327-9D46-62093C6A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6819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38465A"/>
                </a:solidFill>
              </a:defRPr>
            </a:pPr>
            <a:r>
              <a:rPr sz="1650" b="0" i="0">
                <a:solidFill>
                  <a:srgbClr val="38465A"/>
                </a:solidFill>
              </a:rPr>
              <a:t>默认执行模式仍可回滚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B2EE2-1F03-4F2D-A1C4-2C718A8B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68199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E8A86"/>
                </a:solidFill>
              </a:defRPr>
            </a:pPr>
            <a:r>
              <a:rPr sz="4050" b="1" i="0">
                <a:solidFill>
                  <a:srgbClr val="0E8A86"/>
                </a:solidFill>
              </a:rPr>
              <a:t>docker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59247-0E04-45E8-8332-F87C40FF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6819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38465A"/>
                </a:solidFill>
              </a:defRPr>
            </a:pPr>
            <a:r>
              <a:rPr sz="1650" b="0" i="0">
                <a:solidFill>
                  <a:srgbClr val="38465A"/>
                </a:solidFill>
              </a:rPr>
              <a:t>生产多租开启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EC964-DE92-4C67-8868-4B8794A2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532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3"/>
          </a:solidFill>
          <a:ln xmlns:a="http://schemas.openxmlformats.org/drawingml/2006/main" w="0">
            <a:solidFill>
              <a:srgbClr val="CBD7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39F94-4EC9-400A-BC31-4BAAF737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81800"/>
            <a:ext cx="6819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243244"/>
                </a:solidFill>
              </a:defRPr>
            </a:pPr>
            <a:r>
              <a:rPr sz="1800" b="0" i="0">
                <a:solidFill>
                  <a:srgbClr val="243244"/>
                </a:solidFill>
              </a:rPr>
              <a:t>CLAUDE_EXECUTION_MODE=local|docker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CBD31-0D65-4C9B-9965-85588D26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253" y="2219325"/>
            <a:ext cx="9424797" cy="5334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9050">
            <a:solidFill>
              <a:srgbClr val="2639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B1DB5-D9F4-4300-A1D9-F6D865A5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52700"/>
            <a:ext cx="8743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Container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F4D442-52C5-43DD-9518-1033F2F7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05150"/>
            <a:ext cx="424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A8FFF0"/>
                </a:solidFill>
              </a:defRPr>
            </a:pPr>
            <a:r>
              <a:rPr sz="2250" b="1" i="0">
                <a:solidFill>
                  <a:srgbClr val="A8FFF0"/>
                </a:solidFill>
              </a:rPr>
              <a:t>/workspace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7770B-2C0D-4D48-AE46-9B268B65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105150"/>
            <a:ext cx="424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E1A5"/>
                </a:solidFill>
              </a:defRPr>
            </a:pPr>
            <a:r>
              <a:rPr sz="2250" b="1" i="0">
                <a:solidFill>
                  <a:srgbClr val="FFE1A5"/>
                </a:solidFill>
              </a:rPr>
              <a:t>/home/cloudcli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0B5721-3DD0-4E64-AE8F-6C806B48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62350"/>
            <a:ext cx="424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D7E2F0"/>
                </a:solidFill>
              </a:defRPr>
            </a:pPr>
            <a:r>
              <a:rPr sz="1650" b="0" i="0">
                <a:solidFill>
                  <a:srgbClr val="D7E2F0"/>
                </a:solidFill>
              </a:rPr>
              <a:t>当前授权 workspace bind mount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29C301-3E4E-43F6-8D0A-FE40DA63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562350"/>
            <a:ext cx="424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D7E2F0"/>
                </a:solidFill>
              </a:defRPr>
            </a:pPr>
            <a:r>
              <a:rPr sz="1650" b="0" i="0">
                <a:solidFill>
                  <a:srgbClr val="D7E2F0"/>
                </a:solidFill>
              </a:rPr>
              <a:t>session runtime home bind mount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C9A203-7A8F-4524-BE14-46E7E665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43350"/>
            <a:ext cx="424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8EA1BA"/>
                </a:solidFill>
              </a:defRPr>
            </a:pPr>
            <a:r>
              <a:rPr sz="1650" b="0" i="0">
                <a:solidFill>
                  <a:srgbClr val="8EA1BA"/>
                </a:solidFill>
              </a:rPr>
              <a:t>rw, 作为 cwd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030F36-56D2-4BA8-A952-F8F94054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943350"/>
            <a:ext cx="424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8EA1BA"/>
                </a:solidFill>
              </a:defRPr>
            </a:pPr>
            <a:r>
              <a:rPr sz="1650" b="0" i="0">
                <a:solidFill>
                  <a:srgbClr val="8EA1BA"/>
                </a:solidFill>
              </a:rPr>
              <a:t>存放 .claude/projects JSONL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613131-8823-4C44-9ACC-20271E16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0"/>
            <a:ext cx="874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45E"/>
          </a:solidFill>
          <a:ln xmlns:a="http://schemas.openxmlformats.org/drawingml/2006/main" w="0">
            <a:solidFill>
              <a:srgbClr val="33445E"/>
            </a:solidFill>
            <a:prstDash val="solid"/>
          </a:ln>
        </p:spPr>
      </p:sp>
      <p:sp>
        <p:nvSpPr>
          <p:cNvPr id="20" name="pill-no ~/.claude mount">
            <a:extLst xmlns:a="http://schemas.openxmlformats.org/drawingml/2006/main">
              <a:ext uri="{FF2B5EF4-FFF2-40B4-BE49-F238E27FC236}">
                <a16:creationId xmlns:a16="http://schemas.microsoft.com/office/drawing/2014/main" id="{81C97240-2718-4EEB-9E61-05309578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3153" y="4619625"/>
            <a:ext cx="25908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5C47"/>
          </a:solidFill>
          <a:ln xmlns:a="http://schemas.openxmlformats.org/drawingml/2006/main" w="0">
            <a:solidFill>
              <a:srgbClr val="E65C4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CDC013-40B9-46D3-97E7-5F024516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743450"/>
            <a:ext cx="2247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no ~/.claude mount</a:t>
            </a:r>
          </a:p>
        </p:txBody>
      </p:sp>
      <p:sp>
        <p:nvSpPr>
          <p:cNvPr id="22" name="pill-no Docker socket">
            <a:extLst xmlns:a="http://schemas.openxmlformats.org/drawingml/2006/main">
              <a:ext uri="{FF2B5EF4-FFF2-40B4-BE49-F238E27FC236}">
                <a16:creationId xmlns:a16="http://schemas.microsoft.com/office/drawing/2014/main" id="{3DE41924-476A-4C6C-B179-0678F007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4453" y="4619625"/>
            <a:ext cx="22669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5C47"/>
          </a:solidFill>
          <a:ln xmlns:a="http://schemas.openxmlformats.org/drawingml/2006/main" w="0">
            <a:solidFill>
              <a:srgbClr val="E65C4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382160-C1D7-42EB-9693-589A49B4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743450"/>
            <a:ext cx="1943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no Docker socket</a:t>
            </a:r>
          </a:p>
        </p:txBody>
      </p:sp>
      <p:sp>
        <p:nvSpPr>
          <p:cNvPr id="24" name="pill-env allowlist">
            <a:extLst xmlns:a="http://schemas.openxmlformats.org/drawingml/2006/main">
              <a:ext uri="{FF2B5EF4-FFF2-40B4-BE49-F238E27FC236}">
                <a16:creationId xmlns:a16="http://schemas.microsoft.com/office/drawing/2014/main" id="{0AF98455-219B-4A26-81D0-C621335E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1903" y="4619625"/>
            <a:ext cx="20383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4"/>
          </a:solidFill>
          <a:ln xmlns:a="http://schemas.openxmlformats.org/drawingml/2006/main" w="0">
            <a:solidFill>
              <a:srgbClr val="2F7D5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655E61-3976-4FA9-B10E-F67EC8F2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47434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env allowlist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E81609-E07F-4730-9B88-287F6448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295900"/>
            <a:ext cx="8743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B8C7DA"/>
                </a:solidFill>
              </a:defRPr>
            </a:pPr>
            <a:r>
              <a:rPr sz="1800" b="0" i="0">
                <a:solidFill>
                  <a:srgbClr val="B8C7DA"/>
                </a:solidFill>
              </a:rPr>
              <a:t>--cap-drop=ALL  --read-only  --security-opt no-new-privileges  --tmpfs /tmp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6C0A03-25F3-454D-8D6D-6BBF4B46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601200"/>
            <a:ext cx="16802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B8795"/>
                </a:solidFill>
              </a:defRPr>
            </a:pPr>
            <a:r>
              <a:rPr sz="975" b="0" i="0">
                <a:solidFill>
                  <a:srgbClr val="7B8795"/>
                </a:solidFill>
              </a:rPr>
              <a:t>Sources: server/services/agent-session-runtime.js; docker/claude-code/Dockerfile</a:t>
            </a:r>
          </a:p>
        </p:txBody>
      </p:sp>
    </p:spTree>
    <p:extLst>
      <p:ext uri="{BB962C8B-B14F-4D97-AF65-F5344CB8AC3E}">
        <p14:creationId xmlns:p14="http://schemas.microsoft.com/office/powerpoint/2010/main" val="8429348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0A9AD3A-5294-44D8-A618-832D853B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6E521-6B5D-4266-915C-61111DAB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"/>
            <a:ext cx="1680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E8A86"/>
                </a:solidFill>
              </a:defRPr>
            </a:pPr>
            <a:r>
              <a:rPr sz="1425" b="1" i="0">
                <a:solidFill>
                  <a:srgbClr val="0E8A86"/>
                </a:solidFill>
              </a:rPr>
              <a:t>05 / NEW SESSION FLOW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CB4A9F-B200-4E23-8D48-69EF1CAD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16802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11827"/>
                </a:solidFill>
              </a:defRPr>
            </a:pPr>
            <a:r>
              <a:rPr sz="4050" b="1" i="0">
                <a:solidFill>
                  <a:srgbClr val="111827"/>
                </a:solidFill>
              </a:rPr>
              <a:t>新会话：先生成 runtime，再等 Claude session 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4E243-80BF-41D3-BA55-7FC19F3E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832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38465A"/>
                </a:solidFill>
              </a:defRPr>
            </a:pPr>
            <a:r>
              <a:rPr sz="1800" b="0" i="0">
                <a:solidFill>
                  <a:srgbClr val="38465A"/>
                </a:solidFill>
              </a:rPr>
              <a:t>因为 provider_session_id 在流开始后才出现，runtime_id 是第一阶段的稳定锚点。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FDF8C-5BC2-4793-B1B1-B67102A8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90725"/>
            <a:ext cx="4057650" cy="3552825"/>
          </a:xfrm>
          <a:prstGeom xmlns:a="http://schemas.openxmlformats.org/drawingml/2006/main" prst="roundRect">
            <a:avLst>
              <a:gd name="adj" fmla="val 2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AF4AD-8C05-4EB0-BD7A-D0FB4AA4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76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3057C8"/>
                </a:solidFill>
              </a:defRPr>
            </a:pPr>
            <a:r>
              <a:rPr sz="3600" b="1" i="0">
                <a:solidFill>
                  <a:srgbClr val="3057C8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E2549-91B7-47E4-95ED-883D53C8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3600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11827"/>
                </a:solidFill>
              </a:defRPr>
            </a:pPr>
            <a:r>
              <a:rPr sz="2175" b="1" i="0">
                <a:solidFill>
                  <a:srgbClr val="111827"/>
                </a:solidFill>
              </a:rPr>
              <a:t>Command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7BE54-B6C4-46B4-AF33-FB842436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3600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38465A"/>
                </a:solidFill>
              </a:defRPr>
            </a:pPr>
            <a:r>
              <a:rPr sz="1650" b="0" i="0">
                <a:solidFill>
                  <a:srgbClr val="38465A"/>
                </a:solidFill>
              </a:rPr>
              <a:t>用户发送 Claude prompt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4DBA12-8B91-4D0C-ADA0-A0D2241A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90725"/>
            <a:ext cx="4057650" cy="3552825"/>
          </a:xfrm>
          <a:prstGeom xmlns:a="http://schemas.openxmlformats.org/drawingml/2006/main" prst="roundRect">
            <a:avLst>
              <a:gd name="adj" fmla="val 2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342970-6A8A-4FBD-8497-1D6CED94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28850"/>
            <a:ext cx="76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3057C8"/>
                </a:solidFill>
              </a:defRPr>
            </a:pPr>
            <a:r>
              <a:rPr sz="3600" b="1" i="0">
                <a:solidFill>
                  <a:srgbClr val="3057C8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8060E-5863-4511-A22F-E85AAEC1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38450"/>
            <a:ext cx="3600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11827"/>
                </a:solidFill>
              </a:defRPr>
            </a:pPr>
            <a:r>
              <a:rPr sz="2175" b="1" i="0">
                <a:solidFill>
                  <a:srgbClr val="111827"/>
                </a:solidFill>
              </a:rPr>
              <a:t>Authorize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EEEC1A-7B62-40D5-8B06-4EE481A2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57550"/>
            <a:ext cx="3600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38465A"/>
                </a:solidFill>
              </a:defRPr>
            </a:pPr>
            <a:r>
              <a:rPr sz="1650" b="0" i="0">
                <a:solidFill>
                  <a:srgbClr val="38465A"/>
                </a:solidFill>
              </a:rPr>
              <a:t>验证 tenant + workspace edit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A171F8-C771-4E22-80E4-60A9E38D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90725"/>
            <a:ext cx="4057650" cy="3552825"/>
          </a:xfrm>
          <a:prstGeom xmlns:a="http://schemas.openxmlformats.org/drawingml/2006/main" prst="roundRect">
            <a:avLst>
              <a:gd name="adj" fmla="val 2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82CCBF-9FCD-4D4F-8008-4176574F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28850"/>
            <a:ext cx="76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3057C8"/>
                </a:solidFill>
              </a:defRPr>
            </a:pPr>
            <a:r>
              <a:rPr sz="3600" b="1" i="0">
                <a:solidFill>
                  <a:srgbClr val="3057C8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1858AA-D660-4C6E-999C-C7C2481B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38450"/>
            <a:ext cx="3600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11827"/>
                </a:solidFill>
              </a:defRPr>
            </a:pPr>
            <a:r>
              <a:rPr sz="2175" b="1" i="0">
                <a:solidFill>
                  <a:srgbClr val="111827"/>
                </a:solidFill>
              </a:rPr>
              <a:t>Runtime row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BD2F6E-175E-48EA-B536-9A7A3D14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3600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38465A"/>
                </a:solidFill>
              </a:defRPr>
            </a:pPr>
            <a:r>
              <a:rPr sz="1650" b="0" i="0">
                <a:solidFill>
                  <a:srgbClr val="38465A"/>
                </a:solidFill>
              </a:rPr>
              <a:t>创建 pending runtime_id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BF6BED-82CD-4290-8288-FE4DE7D4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1990725"/>
            <a:ext cx="4057650" cy="3552825"/>
          </a:xfrm>
          <a:prstGeom xmlns:a="http://schemas.openxmlformats.org/drawingml/2006/main" prst="roundRect">
            <a:avLst>
              <a:gd name="adj" fmla="val 2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644CE4-442C-4D1E-8716-873B714A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228850"/>
            <a:ext cx="76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3057C8"/>
                </a:solidFill>
              </a:defRPr>
            </a:pPr>
            <a:r>
              <a:rPr sz="3600" b="1" i="0">
                <a:solidFill>
                  <a:srgbClr val="3057C8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617909-857C-4CE9-B59E-601DC6EB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838450"/>
            <a:ext cx="3600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11827"/>
                </a:solidFill>
              </a:defRPr>
            </a:pPr>
            <a:r>
              <a:rPr sz="2175" b="1" i="0">
                <a:solidFill>
                  <a:srgbClr val="111827"/>
                </a:solidFill>
              </a:rPr>
              <a:t>Container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89A91F-65DE-46C3-A684-FDF3C63C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257550"/>
            <a:ext cx="3600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38465A"/>
                </a:solidFill>
              </a:defRPr>
            </a:pPr>
            <a:r>
              <a:rPr sz="1650" b="0" i="0">
                <a:solidFill>
                  <a:srgbClr val="38465A"/>
                </a:solidFill>
              </a:rPr>
              <a:t>启动或复用 Docker 容器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A95F51-989B-4CFB-8CEF-323EED70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4057650" cy="3552825"/>
          </a:xfrm>
          <a:prstGeom xmlns:a="http://schemas.openxmlformats.org/drawingml/2006/main" prst="roundRect">
            <a:avLst>
              <a:gd name="adj" fmla="val 2145"/>
            </a:avLst>
          </a:prstGeom>
          <a:solidFill xmlns:a="http://schemas.openxmlformats.org/drawingml/2006/main">
            <a:srgbClr val="F1F7F5"/>
          </a:solidFill>
          <a:ln xmlns:a="http://schemas.openxmlformats.org/drawingml/2006/main" w="19050">
            <a:solidFill>
              <a:srgbClr val="A8D8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E07D86-6FEE-413B-8515-F9F3881E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81700"/>
            <a:ext cx="76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0E8A86"/>
                </a:solidFill>
              </a:defRPr>
            </a:pPr>
            <a:r>
              <a:rPr sz="3600" b="1" i="0">
                <a:solidFill>
                  <a:srgbClr val="0E8A86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0BD3C9-396F-49A4-999F-A9DC2421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591300"/>
            <a:ext cx="3600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11827"/>
                </a:solidFill>
              </a:defRPr>
            </a:pPr>
            <a:r>
              <a:rPr sz="2175" b="1" i="0">
                <a:solidFill>
                  <a:srgbClr val="111827"/>
                </a:solidFill>
              </a:rPr>
              <a:t>SDK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BE9019-CD07-4EE6-AD8D-9F2C9362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29450"/>
            <a:ext cx="3600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38465A"/>
                </a:solidFill>
              </a:defRPr>
            </a:pPr>
            <a:r>
              <a:rPr sz="1650" b="0" i="0">
                <a:solidFill>
                  <a:srgbClr val="38465A"/>
                </a:solidFill>
              </a:rPr>
              <a:t>cwd=/workspace + wrapper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A5045F-C42E-44F6-97A1-2DDF1934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753100"/>
            <a:ext cx="4057650" cy="3552825"/>
          </a:xfrm>
          <a:prstGeom xmlns:a="http://schemas.openxmlformats.org/drawingml/2006/main" prst="roundRect">
            <a:avLst>
              <a:gd name="adj" fmla="val 2145"/>
            </a:avLst>
          </a:prstGeom>
          <a:solidFill xmlns:a="http://schemas.openxmlformats.org/drawingml/2006/main">
            <a:srgbClr val="F1F7F5"/>
          </a:solidFill>
          <a:ln xmlns:a="http://schemas.openxmlformats.org/drawingml/2006/main" w="19050">
            <a:solidFill>
              <a:srgbClr val="A8D8C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08BCBC-6D4A-4EE4-9EF7-62A9871C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981700"/>
            <a:ext cx="76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0E8A86"/>
                </a:solidFill>
              </a:defRPr>
            </a:pPr>
            <a:r>
              <a:rPr sz="3600" b="1" i="0">
                <a:solidFill>
                  <a:srgbClr val="0E8A86"/>
                </a:solidFill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2B976F-C662-4FF6-ABAB-9FFE848B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591300"/>
            <a:ext cx="3600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11827"/>
                </a:solidFill>
              </a:defRPr>
            </a:pPr>
            <a:r>
              <a:rPr sz="2175" b="1" i="0">
                <a:solidFill>
                  <a:srgbClr val="111827"/>
                </a:solidFill>
              </a:rPr>
              <a:t>Session id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17FF40-9659-45DD-A788-9BAB362F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7029450"/>
            <a:ext cx="3600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38465A"/>
                </a:solidFill>
              </a:defRPr>
            </a:pPr>
            <a:r>
              <a:rPr sz="1650" b="0" i="0">
                <a:solidFill>
                  <a:srgbClr val="38465A"/>
                </a:solidFill>
              </a:rPr>
              <a:t>Claude 发出 provider_session_id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43C03C-2A6D-471E-B048-C1369605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753100"/>
            <a:ext cx="4057650" cy="3552825"/>
          </a:xfrm>
          <a:prstGeom xmlns:a="http://schemas.openxmlformats.org/drawingml/2006/main" prst="roundRect">
            <a:avLst>
              <a:gd name="adj" fmla="val 2145"/>
            </a:avLst>
          </a:prstGeom>
          <a:solidFill xmlns:a="http://schemas.openxmlformats.org/drawingml/2006/main">
            <a:srgbClr val="F1F7F5"/>
          </a:solidFill>
          <a:ln xmlns:a="http://schemas.openxmlformats.org/drawingml/2006/main" w="19050">
            <a:solidFill>
              <a:srgbClr val="A8D8C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0E8B35-E538-4A36-872E-85A21C55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981700"/>
            <a:ext cx="76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0E8A86"/>
                </a:solidFill>
              </a:defRPr>
            </a:pPr>
            <a:r>
              <a:rPr sz="3600" b="1" i="0">
                <a:solidFill>
                  <a:srgbClr val="0E8A86"/>
                </a:solidFill>
              </a:rPr>
              <a:t>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F7F499-F034-4944-817A-21270AD7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591300"/>
            <a:ext cx="3600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11827"/>
                </a:solidFill>
              </a:defRPr>
            </a:pPr>
            <a:r>
              <a:rPr sz="2175" b="1" i="0">
                <a:solidFill>
                  <a:srgbClr val="111827"/>
                </a:solidFill>
              </a:rPr>
              <a:t>Persist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4DFFFC-5538-4DF9-AC17-BB79E725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7029450"/>
            <a:ext cx="3600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38465A"/>
                </a:solidFill>
              </a:defRPr>
            </a:pPr>
            <a:r>
              <a:rPr sz="1650" b="0" i="0">
                <a:solidFill>
                  <a:srgbClr val="38465A"/>
                </a:solidFill>
              </a:rPr>
              <a:t>绑定 runtime 并写消息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388CB4-6020-4A07-B54D-DE19FD88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5753100"/>
            <a:ext cx="4057650" cy="3552825"/>
          </a:xfrm>
          <a:prstGeom xmlns:a="http://schemas.openxmlformats.org/drawingml/2006/main" prst="roundRect">
            <a:avLst>
              <a:gd name="adj" fmla="val 2145"/>
            </a:avLst>
          </a:prstGeom>
          <a:solidFill xmlns:a="http://schemas.openxmlformats.org/drawingml/2006/main">
            <a:srgbClr val="F1F7F5"/>
          </a:solidFill>
          <a:ln xmlns:a="http://schemas.openxmlformats.org/drawingml/2006/main" w="19050">
            <a:solidFill>
              <a:srgbClr val="A8D8C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0D09B4-5D41-482E-948E-2C53F9C0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981700"/>
            <a:ext cx="76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0E8A86"/>
                </a:solidFill>
              </a:defRPr>
            </a:pPr>
            <a:r>
              <a:rPr sz="3600" b="1" i="0">
                <a:solidFill>
                  <a:srgbClr val="0E8A86"/>
                </a:solidFill>
              </a:rPr>
              <a:t>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758746-0ECF-439B-9C08-C9A82A39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6591300"/>
            <a:ext cx="3600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11827"/>
                </a:solidFill>
              </a:defRPr>
            </a:pPr>
            <a:r>
              <a:rPr sz="2175" b="1" i="0">
                <a:solidFill>
                  <a:srgbClr val="111827"/>
                </a:solidFill>
              </a:rPr>
              <a:t>Complete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110417-0746-4FE4-A866-EDA906A1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7029450"/>
            <a:ext cx="3600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38465A"/>
                </a:solidFill>
              </a:defRPr>
            </a:pPr>
            <a:r>
              <a:rPr sz="1650" b="0" i="0">
                <a:solidFill>
                  <a:srgbClr val="38465A"/>
                </a:solidFill>
              </a:rPr>
              <a:t>runtime 进入 idle/failed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2B2FE7-9DA0-4D82-91DA-891F22A3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601200"/>
            <a:ext cx="16802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B8795"/>
                </a:solidFill>
              </a:defRPr>
            </a:pPr>
            <a:r>
              <a:rPr sz="975" b="0" i="0">
                <a:solidFill>
                  <a:srgbClr val="7B8795"/>
                </a:solidFill>
              </a:rPr>
              <a:t>Sources: server/claude-sdk.js; server/services/agent-session-runtime.js; server/services/session-message-history.js</a:t>
            </a:r>
          </a:p>
        </p:txBody>
      </p:sp>
    </p:spTree>
    <p:extLst>
      <p:ext uri="{BB962C8B-B14F-4D97-AF65-F5344CB8AC3E}">
        <p14:creationId xmlns:p14="http://schemas.microsoft.com/office/powerpoint/2010/main" val="20583813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BEF7E89-BDF3-4E8C-8A53-8CD39FE3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C8788-F2BA-4437-9AAD-3FAD4848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"/>
            <a:ext cx="1680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E8A86"/>
                </a:solidFill>
              </a:defRPr>
            </a:pPr>
            <a:r>
              <a:rPr sz="1425" b="1" i="0">
                <a:solidFill>
                  <a:srgbClr val="0E8A86"/>
                </a:solidFill>
              </a:rPr>
              <a:t>06 / RESUME &amp; HISTORY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948133-F290-4B62-B3B9-8F19FA67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16802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11827"/>
                </a:solidFill>
              </a:defRPr>
            </a:pPr>
            <a:r>
              <a:rPr sz="4050" b="1" i="0">
                <a:solidFill>
                  <a:srgbClr val="111827"/>
                </a:solidFill>
              </a:rPr>
              <a:t>UI 历史 DB-first，CLI 续跑看 runtime home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A3A5D-AFBD-4F34-A6D7-E9560BA8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923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38465A"/>
                </a:solidFill>
              </a:defRPr>
            </a:pPr>
            <a:r>
              <a:rPr sz="1800" b="0" i="0">
                <a:solidFill>
                  <a:srgbClr val="38465A"/>
                </a:solidFill>
              </a:rPr>
              <a:t>这条分工让浏览器历史稳定、可分页、可授权，同时保留 Claude CLI 自己的 resume 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16BB8-72A5-4E9C-B314-6B93E156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8134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3057C8"/>
                </a:solidFill>
              </a:defRPr>
            </a:pPr>
            <a:r>
              <a:rPr sz="2550" b="1" i="0">
                <a:solidFill>
                  <a:srgbClr val="3057C8"/>
                </a:solidFill>
              </a:rPr>
              <a:t>Browser read path</a:t>
            </a:r>
          </a:p>
        </p:txBody>
      </p:sp>
      <p:sp>
        <p:nvSpPr>
          <p:cNvPr id="6" name="node-GET messages">
            <a:extLst xmlns:a="http://schemas.openxmlformats.org/drawingml/2006/main">
              <a:ext uri="{FF2B5EF4-FFF2-40B4-BE49-F238E27FC236}">
                <a16:creationId xmlns:a16="http://schemas.microsoft.com/office/drawing/2014/main" id="{4E1BEBA3-B7FA-4F1C-BF33-C3C1AFB5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671888"/>
            <a:ext cx="5905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05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1F53E-A99A-4689-89DE-5E4C8BB4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9052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57C8"/>
          </a:solidFill>
          <a:ln xmlns:a="http://schemas.openxmlformats.org/drawingml/2006/main" w="0">
            <a:solidFill>
              <a:srgbClr val="3057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626AC4-5766-4E8C-B2CF-63340734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48100"/>
            <a:ext cx="5257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GET messages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0D205-75D3-4B40-A388-62926B9B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152900"/>
            <a:ext cx="5486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8465A"/>
                </a:solidFill>
              </a:defRPr>
            </a:pPr>
            <a:r>
              <a:rPr sz="1275" b="0" i="0">
                <a:solidFill>
                  <a:srgbClr val="38465A"/>
                </a:solidFill>
              </a:rPr>
              <a:t>tenantId + provider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04A3C0-2D27-4C9B-96B2-825FD7C1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1965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CBD7E3"/>
                </a:solidFill>
              </a:defRPr>
            </a:pPr>
            <a:r>
              <a:rPr sz="1725" b="1" i="0">
                <a:solidFill>
                  <a:srgbClr val="CBD7E3"/>
                </a:solidFill>
              </a:rPr>
              <a:t>v</a:t>
            </a:r>
          </a:p>
        </p:txBody>
      </p:sp>
      <p:sp>
        <p:nvSpPr>
          <p:cNvPr id="11" name="node-findOwnedSession">
            <a:extLst xmlns:a="http://schemas.openxmlformats.org/drawingml/2006/main">
              <a:ext uri="{FF2B5EF4-FFF2-40B4-BE49-F238E27FC236}">
                <a16:creationId xmlns:a16="http://schemas.microsoft.com/office/drawing/2014/main" id="{D4448CD9-D644-4A39-A28D-7BF240EE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76838"/>
            <a:ext cx="5905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D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EAAB5-D19D-47F6-84F9-0BBDCE38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102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4"/>
          </a:solidFill>
          <a:ln xmlns:a="http://schemas.openxmlformats.org/drawingml/2006/main" w="0">
            <a:solidFill>
              <a:srgbClr val="2F7D5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2F91B3-FD0B-4C64-8341-CDBB2299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53050"/>
            <a:ext cx="5257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findOwnedSession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C52AAF-7BAC-4313-8F1A-ECCD1EAB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57850"/>
            <a:ext cx="5486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8465A"/>
                </a:solidFill>
              </a:defRPr>
            </a:pPr>
            <a:r>
              <a:rPr sz="1275" b="0" i="0">
                <a:solidFill>
                  <a:srgbClr val="38465A"/>
                </a:solidFill>
              </a:rPr>
              <a:t>session_index 授权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B8B04-6C27-4F35-9912-FDCEFF76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32460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CBD7E3"/>
                </a:solidFill>
              </a:defRPr>
            </a:pPr>
            <a:r>
              <a:rPr sz="1725" b="1" i="0">
                <a:solidFill>
                  <a:srgbClr val="CBD7E3"/>
                </a:solidFill>
              </a:rPr>
              <a:t>v</a:t>
            </a:r>
          </a:p>
        </p:txBody>
      </p:sp>
      <p:sp>
        <p:nvSpPr>
          <p:cNvPr id="16" name="node-DB messages">
            <a:extLst xmlns:a="http://schemas.openxmlformats.org/drawingml/2006/main">
              <a:ext uri="{FF2B5EF4-FFF2-40B4-BE49-F238E27FC236}">
                <a16:creationId xmlns:a16="http://schemas.microsoft.com/office/drawing/2014/main" id="{10F16AA6-8CEB-4D4B-A655-D5D52E93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681788"/>
            <a:ext cx="5905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8A8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1EFD14-1D1A-41FE-8FA7-DB38E909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9151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86"/>
          </a:solidFill>
          <a:ln xmlns:a="http://schemas.openxmlformats.org/drawingml/2006/main" w="0">
            <a:solidFill>
              <a:srgbClr val="0E8A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395EB0-AE33-4B6D-A07E-274B5BDC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858000"/>
            <a:ext cx="5257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DB messages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C69619-2D0F-47EB-B5DD-AC26405E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7162800"/>
            <a:ext cx="5486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8465A"/>
                </a:solidFill>
              </a:defRPr>
            </a:pPr>
            <a:r>
              <a:rPr sz="1275" b="0" i="0">
                <a:solidFill>
                  <a:srgbClr val="38465A"/>
                </a:solidFill>
              </a:rPr>
              <a:t>total / limit / offset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765262-28B8-486A-BCAD-4B9D1626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8134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243244"/>
                </a:solidFill>
              </a:defRPr>
            </a:pPr>
            <a:r>
              <a:rPr sz="2025" b="0" i="0">
                <a:solidFill>
                  <a:srgbClr val="243244"/>
                </a:solidFill>
              </a:rPr>
              <a:t>若 DB 中已有消息，就不再依赖 Claude JSONL 作为 UI 历史源。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78EE57-2AFA-470A-8A4D-1F80BD0C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0"/>
            <a:ext cx="8134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E65C47"/>
                </a:solidFill>
              </a:defRPr>
            </a:pPr>
            <a:r>
              <a:rPr sz="2550" b="1" i="0">
                <a:solidFill>
                  <a:srgbClr val="E65C47"/>
                </a:solidFill>
              </a:rPr>
              <a:t>Claude resume path</a:t>
            </a:r>
          </a:p>
        </p:txBody>
      </p:sp>
      <p:sp>
        <p:nvSpPr>
          <p:cNvPr id="22" name="node-session id">
            <a:extLst xmlns:a="http://schemas.openxmlformats.org/drawingml/2006/main">
              <a:ext uri="{FF2B5EF4-FFF2-40B4-BE49-F238E27FC236}">
                <a16:creationId xmlns:a16="http://schemas.microsoft.com/office/drawing/2014/main" id="{3F101EA6-F31A-413A-8229-6EE50BCA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543300"/>
            <a:ext cx="5905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5C4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733465-2D94-4641-B946-BF0C4C4E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7719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5C47"/>
          </a:solidFill>
          <a:ln xmlns:a="http://schemas.openxmlformats.org/drawingml/2006/main" w="0">
            <a:solidFill>
              <a:srgbClr val="E65C4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2569D6-C40A-4A1A-A750-BCB0EFDB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714750"/>
            <a:ext cx="5257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session 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F88E61-88FE-4474-B824-64E258AB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038600"/>
            <a:ext cx="5486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8465A"/>
                </a:solidFill>
              </a:defRPr>
            </a:pPr>
            <a:r>
              <a:rPr sz="1275" b="0" i="0">
                <a:solidFill>
                  <a:srgbClr val="38465A"/>
                </a:solidFill>
              </a:rPr>
              <a:t>provider_session_id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796828-6088-4E97-9DDE-4B00544A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468630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CBD7E3"/>
                </a:solidFill>
              </a:defRPr>
            </a:pPr>
            <a:r>
              <a:rPr sz="1725" b="1" i="0">
                <a:solidFill>
                  <a:srgbClr val="CBD7E3"/>
                </a:solidFill>
              </a:rPr>
              <a:t>v</a:t>
            </a:r>
          </a:p>
        </p:txBody>
      </p:sp>
      <p:sp>
        <p:nvSpPr>
          <p:cNvPr id="27" name="node-runtime row">
            <a:extLst xmlns:a="http://schemas.openxmlformats.org/drawingml/2006/main">
              <a:ext uri="{FF2B5EF4-FFF2-40B4-BE49-F238E27FC236}">
                <a16:creationId xmlns:a16="http://schemas.microsoft.com/office/drawing/2014/main" id="{6382E4F5-C587-4F8F-9F27-D9C2EE0E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048250"/>
            <a:ext cx="5905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A54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EA01D8-DF68-4CB9-894F-F9A002DB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2768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0">
            <a:solidFill>
              <a:srgbClr val="F2A54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08779D-6D2F-41EF-9CE0-6C0F37B7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219700"/>
            <a:ext cx="5257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runtime row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59CE31-4C00-474A-AF6B-3DF96680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543550"/>
            <a:ext cx="5486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8465A"/>
                </a:solidFill>
              </a:defRPr>
            </a:pPr>
            <a:r>
              <a:rPr sz="1275" b="0" i="0">
                <a:solidFill>
                  <a:srgbClr val="38465A"/>
                </a:solidFill>
              </a:rPr>
              <a:t>same runtime_home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5783CB-BD26-4925-BBD1-5F0E7629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6191250"/>
            <a:ext cx="26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CBD7E3"/>
                </a:solidFill>
              </a:defRPr>
            </a:pPr>
            <a:r>
              <a:rPr sz="1725" b="1" i="0">
                <a:solidFill>
                  <a:srgbClr val="CBD7E3"/>
                </a:solidFill>
              </a:rPr>
              <a:t>v</a:t>
            </a:r>
          </a:p>
        </p:txBody>
      </p:sp>
      <p:sp>
        <p:nvSpPr>
          <p:cNvPr id="32" name="node-container">
            <a:extLst xmlns:a="http://schemas.openxmlformats.org/drawingml/2006/main">
              <a:ext uri="{FF2B5EF4-FFF2-40B4-BE49-F238E27FC236}">
                <a16:creationId xmlns:a16="http://schemas.microsoft.com/office/drawing/2014/main" id="{3348E50A-51F0-4ACD-AC0C-723B4A6C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553200"/>
            <a:ext cx="5905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8A8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2998A2-5631-49EB-9739-F3696705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781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86"/>
          </a:solidFill>
          <a:ln xmlns:a="http://schemas.openxmlformats.org/drawingml/2006/main" w="0">
            <a:solidFill>
              <a:srgbClr val="0E8A8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AECC65-A4D9-48E3-B1B7-794ABAB2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724650"/>
            <a:ext cx="5257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container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24055B-21F2-40F3-AFD8-B1AC67A3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048500"/>
            <a:ext cx="5486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8465A"/>
                </a:solidFill>
              </a:defRPr>
            </a:pPr>
            <a:r>
              <a:rPr sz="1275" b="0" i="0">
                <a:solidFill>
                  <a:srgbClr val="38465A"/>
                </a:solidFill>
              </a:rPr>
              <a:t>/home/cloudcli/.claude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D7F903-D924-424E-9E2F-BDFC9027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7829550"/>
            <a:ext cx="81343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243244"/>
                </a:solidFill>
              </a:defRPr>
            </a:pPr>
            <a:r>
              <a:rPr sz="2025" b="0" i="0">
                <a:solidFill>
                  <a:srgbClr val="243244"/>
                </a:solidFill>
              </a:rPr>
              <a:t>容器可以删除或停止；runtime home 保留，让同一 session 恢复到原先的 Claude 状态。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2EEE72-C024-455A-A63C-3F5D67EB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601200"/>
            <a:ext cx="16802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B8795"/>
                </a:solidFill>
              </a:defRPr>
            </a:pPr>
            <a:r>
              <a:rPr sz="975" b="0" i="0">
                <a:solidFill>
                  <a:srgbClr val="7B8795"/>
                </a:solidFill>
              </a:rPr>
              <a:t>Sources: server/routes/messages.js; server/services/session-message-history.js; src/stores/sessionMerge.ts</a:t>
            </a:r>
          </a:p>
        </p:txBody>
      </p:sp>
    </p:spTree>
    <p:extLst>
      <p:ext uri="{BB962C8B-B14F-4D97-AF65-F5344CB8AC3E}">
        <p14:creationId xmlns:p14="http://schemas.microsoft.com/office/powerpoint/2010/main" val="7652034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EA0DE2C-4139-4420-AA61-447016AD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79308-BA08-47F2-A17D-C6FADE69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"/>
            <a:ext cx="1680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E8A86"/>
                </a:solidFill>
              </a:defRPr>
            </a:pPr>
            <a:r>
              <a:rPr sz="1425" b="1" i="0">
                <a:solidFill>
                  <a:srgbClr val="0E8A86"/>
                </a:solidFill>
              </a:rPr>
              <a:t>07 / FRONTEND CONSISTENCY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6CCA11-63DF-4BE9-9E65-19B49E93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16802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11827"/>
                </a:solidFill>
              </a:defRPr>
            </a:pPr>
            <a:r>
              <a:rPr sz="4050" b="1" i="0">
                <a:solidFill>
                  <a:srgbClr val="111827"/>
                </a:solidFill>
              </a:rPr>
              <a:t>前端只合并，不再猜历史真相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DA32C-8A20-4EFD-96E6-16E84193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7353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38465A"/>
                </a:solidFill>
              </a:defRPr>
            </a:pPr>
            <a:r>
              <a:rPr sz="1800" b="0" i="0">
                <a:solidFill>
                  <a:srgbClr val="38465A"/>
                </a:solidFill>
              </a:rPr>
              <a:t>session store 的职责变成：展示 DB 历史，同时保留还没落库的实时流。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0259B-39BA-4E3A-853F-325FA1AD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8915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925" b="1" i="0">
                <a:solidFill>
                  <a:srgbClr val="111827"/>
                </a:solidFill>
              </a:defRPr>
            </a:pPr>
            <a:r>
              <a:rPr sz="2925" b="1" i="0">
                <a:solidFill>
                  <a:srgbClr val="111827"/>
                </a:solidFill>
              </a:rPr>
              <a:t>computeMerged(server, realtime)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D9120-73C0-4064-A741-E6133334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00650"/>
            <a:ext cx="590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A86"/>
          </a:solidFill>
          <a:ln xmlns:a="http://schemas.openxmlformats.org/drawingml/2006/main" w="0">
            <a:solidFill>
              <a:srgbClr val="0E8A8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6148F-718E-4A83-8FAE-47FAF1B2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86400"/>
            <a:ext cx="8096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243244"/>
                </a:solidFill>
              </a:defRPr>
            </a:pPr>
            <a:r>
              <a:rPr sz="2175" b="0" i="0">
                <a:solidFill>
                  <a:srgbClr val="243244"/>
                </a:solidFill>
              </a:rPr>
              <a:t>Server messages take priority. Realtime messages stay only while in-flight.</a:t>
            </a:r>
          </a:p>
        </p:txBody>
      </p:sp>
      <p:sp>
        <p:nvSpPr>
          <p:cNvPr id="8" name="pill-dedupe by id">
            <a:extLst xmlns:a="http://schemas.openxmlformats.org/drawingml/2006/main">
              <a:ext uri="{FF2B5EF4-FFF2-40B4-BE49-F238E27FC236}">
                <a16:creationId xmlns:a16="http://schemas.microsoft.com/office/drawing/2014/main" id="{5A4934B8-F630-4F56-8851-64C9DD6A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20002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57C8"/>
          </a:solidFill>
          <a:ln xmlns:a="http://schemas.openxmlformats.org/drawingml/2006/main" w="0">
            <a:solidFill>
              <a:srgbClr val="305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CC3BFB-345E-41BC-A2FA-36EB25ED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19850"/>
            <a:ext cx="1676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dedupe by id</a:t>
            </a:r>
          </a:p>
        </p:txBody>
      </p:sp>
      <p:sp>
        <p:nvSpPr>
          <p:cNvPr id="10" name="pill-dedupe optimistic user text">
            <a:extLst xmlns:a="http://schemas.openxmlformats.org/drawingml/2006/main">
              <a:ext uri="{FF2B5EF4-FFF2-40B4-BE49-F238E27FC236}">
                <a16:creationId xmlns:a16="http://schemas.microsoft.com/office/drawing/2014/main" id="{CF33D04E-4FFE-45ED-9070-6DCE29F7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286500"/>
            <a:ext cx="31813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09D1AC-5457-4314-A548-0E81BCA4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419850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dedupe optimistic user text</a:t>
            </a:r>
          </a:p>
        </p:txBody>
      </p:sp>
      <p:sp>
        <p:nvSpPr>
          <p:cNvPr id="12" name="pill-insert by timestamp">
            <a:extLst xmlns:a="http://schemas.openxmlformats.org/drawingml/2006/main">
              <a:ext uri="{FF2B5EF4-FFF2-40B4-BE49-F238E27FC236}">
                <a16:creationId xmlns:a16="http://schemas.microsoft.com/office/drawing/2014/main" id="{B256ED4D-AF94-49FB-81C0-ED6E8E0A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286500"/>
            <a:ext cx="24765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86"/>
          </a:solidFill>
          <a:ln xmlns:a="http://schemas.openxmlformats.org/drawingml/2006/main" w="0">
            <a:solidFill>
              <a:srgbClr val="0E8A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FFBE4-72CA-4EAC-A317-19091432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19850"/>
            <a:ext cx="2133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insert by timestamp</a:t>
            </a:r>
          </a:p>
        </p:txBody>
      </p:sp>
      <p:sp>
        <p:nvSpPr>
          <p:cNvPr id="14" name="node-Tenant switch">
            <a:extLst xmlns:a="http://schemas.openxmlformats.org/drawingml/2006/main">
              <a:ext uri="{FF2B5EF4-FFF2-40B4-BE49-F238E27FC236}">
                <a16:creationId xmlns:a16="http://schemas.microsoft.com/office/drawing/2014/main" id="{37395EB0-05E3-4837-8A1C-375DC79B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9853" y="3771900"/>
            <a:ext cx="609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8A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5E6D63-259F-4C7A-A982-42B7F996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0005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86"/>
          </a:solidFill>
          <a:ln xmlns:a="http://schemas.openxmlformats.org/drawingml/2006/main" w="0">
            <a:solidFill>
              <a:srgbClr val="0E8A8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919BE0-422A-45C9-813B-A4F99F0A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943350"/>
            <a:ext cx="5448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Tenant switch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5AF8CD-3D49-4E1C-AE8D-12591A93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267200"/>
            <a:ext cx="5676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8465A"/>
                </a:solidFill>
              </a:defRPr>
            </a:pPr>
            <a:r>
              <a:rPr sz="1275" b="0" i="0">
                <a:solidFill>
                  <a:srgbClr val="38465A"/>
                </a:solidFill>
              </a:rPr>
              <a:t>active tenant controls visible projects</a:t>
            </a:r>
          </a:p>
        </p:txBody>
      </p:sp>
      <p:sp>
        <p:nvSpPr>
          <p:cNvPr id="18" name="node-Session list">
            <a:extLst xmlns:a="http://schemas.openxmlformats.org/drawingml/2006/main">
              <a:ext uri="{FF2B5EF4-FFF2-40B4-BE49-F238E27FC236}">
                <a16:creationId xmlns:a16="http://schemas.microsoft.com/office/drawing/2014/main" id="{4D4AAACD-E5EF-495F-9D87-FC1BEC69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9853" y="5086350"/>
            <a:ext cx="609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057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BFD849-62BE-4F42-BA9F-7B3C1A11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3149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57C8"/>
          </a:solidFill>
          <a:ln xmlns:a="http://schemas.openxmlformats.org/drawingml/2006/main" w="0">
            <a:solidFill>
              <a:srgbClr val="3057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D2461B-CE24-46F7-9DE9-4EF42338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257800"/>
            <a:ext cx="5448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Session list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D452E5-649E-464A-A07D-E58CBA86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581650"/>
            <a:ext cx="5676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8465A"/>
                </a:solidFill>
              </a:defRPr>
            </a:pPr>
            <a:r>
              <a:rPr sz="1275" b="0" i="0">
                <a:solidFill>
                  <a:srgbClr val="38465A"/>
                </a:solidFill>
              </a:rPr>
              <a:t>dedupe provider:id across Claude/Codex/Cursor/Gemini</a:t>
            </a:r>
          </a:p>
        </p:txBody>
      </p:sp>
      <p:sp>
        <p:nvSpPr>
          <p:cNvPr id="22" name="node-Message list">
            <a:extLst xmlns:a="http://schemas.openxmlformats.org/drawingml/2006/main">
              <a:ext uri="{FF2B5EF4-FFF2-40B4-BE49-F238E27FC236}">
                <a16:creationId xmlns:a16="http://schemas.microsoft.com/office/drawing/2014/main" id="{86EFD798-AFDF-454C-8532-61FBFBB9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9853" y="6400800"/>
            <a:ext cx="6096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5C4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8A48B6-BAB5-450D-8A0B-122A1459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6294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5C47"/>
          </a:solidFill>
          <a:ln xmlns:a="http://schemas.openxmlformats.org/drawingml/2006/main" w="0">
            <a:solidFill>
              <a:srgbClr val="E65C4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9CA0DA-8529-4F29-A0F1-D4FDBD15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572250"/>
            <a:ext cx="5448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Message list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7A8CF2-C645-4399-80CA-F3B272E9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896100"/>
            <a:ext cx="5676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8465A"/>
                </a:solidFill>
              </a:defRPr>
            </a:pPr>
            <a:r>
              <a:rPr sz="1275" b="0" i="0">
                <a:solidFill>
                  <a:srgbClr val="38465A"/>
                </a:solidFill>
              </a:rPr>
              <a:t>persisted copy replaces local optimistic duplicate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37FA69-0A58-4522-94F1-383A7ED9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601200"/>
            <a:ext cx="16802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B8795"/>
                </a:solidFill>
              </a:defRPr>
            </a:pPr>
            <a:r>
              <a:rPr sz="975" b="0" i="0">
                <a:solidFill>
                  <a:srgbClr val="7B8795"/>
                </a:solidFill>
              </a:rPr>
              <a:t>Sources: src/stores/sessionMerge.ts; src/stores/useSessionStore.test.ts; src/components/sidebar/utils/utils.ts</a:t>
            </a:r>
          </a:p>
        </p:txBody>
      </p:sp>
    </p:spTree>
    <p:extLst>
      <p:ext uri="{BB962C8B-B14F-4D97-AF65-F5344CB8AC3E}">
        <p14:creationId xmlns:p14="http://schemas.microsoft.com/office/powerpoint/2010/main" val="76446718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A2FE233-22D1-46A6-B208-4A8AFA2C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D1098-38F9-4E58-A311-63356AD8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"/>
            <a:ext cx="1680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E8A86"/>
                </a:solidFill>
              </a:defRPr>
            </a:pPr>
            <a:r>
              <a:rPr sz="1425" b="1" i="0">
                <a:solidFill>
                  <a:srgbClr val="0E8A86"/>
                </a:solidFill>
              </a:rPr>
              <a:t>08 / PERMISSION STACK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92660C-7644-478C-A3AC-9DA037EA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16802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11827"/>
                </a:solidFill>
              </a:defRPr>
            </a:pPr>
            <a:r>
              <a:rPr sz="4050" b="1" i="0">
                <a:solidFill>
                  <a:srgbClr val="111827"/>
                </a:solidFill>
              </a:rPr>
              <a:t>权限边界分层，而不是靠单点防守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35A04-AF71-414D-942F-9D2CEEA0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8191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38465A"/>
                </a:solidFill>
              </a:defRPr>
            </a:pPr>
            <a:r>
              <a:rPr sz="1800" b="0" i="0">
                <a:solidFill>
                  <a:srgbClr val="38465A"/>
                </a:solidFill>
              </a:rPr>
              <a:t>每层解决不同问题：谁能发起、能进哪个目录、CLI 能看到什么、历史从哪里读。</a:t>
            </a:r>
          </a:p>
        </p:txBody>
      </p:sp>
      <p:sp>
        <p:nvSpPr>
          <p:cNvPr id="5" name="node-1. API auth">
            <a:extLst xmlns:a="http://schemas.openxmlformats.org/drawingml/2006/main">
              <a:ext uri="{FF2B5EF4-FFF2-40B4-BE49-F238E27FC236}">
                <a16:creationId xmlns:a16="http://schemas.microsoft.com/office/drawing/2014/main" id="{04F8C236-7431-40C6-B863-8EC84ADB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3905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057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D7D51-93EE-40D3-A062-0F41CD52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57C8"/>
          </a:solidFill>
          <a:ln xmlns:a="http://schemas.openxmlformats.org/drawingml/2006/main" w="0">
            <a:solidFill>
              <a:srgbClr val="305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C968C-70D6-42AF-95F4-E7C18958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62400"/>
            <a:ext cx="325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1. API auth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0D46F-E2BF-4DBE-8DAE-7028207B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3486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8465A"/>
                </a:solidFill>
              </a:defRPr>
            </a:pPr>
            <a:r>
              <a:rPr sz="1275" b="0" i="0">
                <a:solidFill>
                  <a:srgbClr val="38465A"/>
                </a:solidFill>
              </a:rPr>
              <a:t>JWT 用户身份</a:t>
            </a:r>
          </a:p>
        </p:txBody>
      </p:sp>
      <p:sp>
        <p:nvSpPr>
          <p:cNvPr id="9" name="node-2. Tenant context">
            <a:extLst xmlns:a="http://schemas.openxmlformats.org/drawingml/2006/main">
              <a:ext uri="{FF2B5EF4-FFF2-40B4-BE49-F238E27FC236}">
                <a16:creationId xmlns:a16="http://schemas.microsoft.com/office/drawing/2014/main" id="{3C0D53D6-5C0A-49F0-A040-7CB8C4BD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90950"/>
            <a:ext cx="3905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8A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1ACE2E-A00C-4085-B332-1ED80EAD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195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86"/>
          </a:solidFill>
          <a:ln xmlns:a="http://schemas.openxmlformats.org/drawingml/2006/main" w="0">
            <a:solidFill>
              <a:srgbClr val="0E8A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F29D4-3A13-4322-B4BE-11274880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962400"/>
            <a:ext cx="325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2. Tenant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6B04A-66E9-48E7-B160-290FF67D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86250"/>
            <a:ext cx="3486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8465A"/>
                </a:solidFill>
              </a:defRPr>
            </a:pPr>
            <a:r>
              <a:rPr sz="1275" b="0" i="0">
                <a:solidFill>
                  <a:srgbClr val="38465A"/>
                </a:solidFill>
              </a:rPr>
              <a:t>x-tenant-id / membership</a:t>
            </a:r>
          </a:p>
        </p:txBody>
      </p:sp>
      <p:sp>
        <p:nvSpPr>
          <p:cNvPr id="13" name="node-3. Workspace ACL">
            <a:extLst xmlns:a="http://schemas.openxmlformats.org/drawingml/2006/main">
              <a:ext uri="{FF2B5EF4-FFF2-40B4-BE49-F238E27FC236}">
                <a16:creationId xmlns:a16="http://schemas.microsoft.com/office/drawing/2014/main" id="{4E72A5D3-2851-4CB0-8057-8444DE07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90950"/>
            <a:ext cx="3905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D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A1B92E-DF17-416A-A009-AE0D5408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195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4"/>
          </a:solidFill>
          <a:ln xmlns:a="http://schemas.openxmlformats.org/drawingml/2006/main" w="0">
            <a:solidFill>
              <a:srgbClr val="2F7D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7DE96B-0D63-4886-9F50-C8836461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62400"/>
            <a:ext cx="325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3. Workspace ACL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FA6E0A-897E-47A3-9591-420BD459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86250"/>
            <a:ext cx="3486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8465A"/>
                </a:solidFill>
              </a:defRPr>
            </a:pPr>
            <a:r>
              <a:rPr sz="1275" b="0" i="0">
                <a:solidFill>
                  <a:srgbClr val="38465A"/>
                </a:solidFill>
              </a:rPr>
              <a:t>view/edit 到 workspace_id</a:t>
            </a:r>
          </a:p>
        </p:txBody>
      </p:sp>
      <p:sp>
        <p:nvSpPr>
          <p:cNvPr id="17" name="node-4. Session ownership">
            <a:extLst xmlns:a="http://schemas.openxmlformats.org/drawingml/2006/main">
              <a:ext uri="{FF2B5EF4-FFF2-40B4-BE49-F238E27FC236}">
                <a16:creationId xmlns:a16="http://schemas.microsoft.com/office/drawing/2014/main" id="{6553F43A-8EDC-4C19-85F3-EEBDEE0E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3790950"/>
            <a:ext cx="3905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D5B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5D2BE5-2654-4C63-A0BF-9F661A06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0195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F96FD6-60A9-4075-9729-6F6D5464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3962400"/>
            <a:ext cx="325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4. Session ownership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EA1682-D831-41DE-B424-4209DC78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286250"/>
            <a:ext cx="3486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8465A"/>
                </a:solidFill>
              </a:defRPr>
            </a:pPr>
            <a:r>
              <a:rPr sz="1275" b="0" i="0">
                <a:solidFill>
                  <a:srgbClr val="38465A"/>
                </a:solidFill>
              </a:rPr>
              <a:t>session_id 不跨租户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26AF65-9D4A-4CAE-82B9-8DD4337E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00650"/>
            <a:ext cx="1680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3"/>
          </a:solidFill>
          <a:ln xmlns:a="http://schemas.openxmlformats.org/drawingml/2006/main" w="0">
            <a:solidFill>
              <a:srgbClr val="CBD7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C457AA-2086-4896-B943-8A19823C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48300"/>
            <a:ext cx="8286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9050">
            <a:solidFill>
              <a:srgbClr val="26395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9D1919-5527-4357-BEB7-21FE1AB1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7690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5. Runtime isolation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DD1952-990C-4060-BCBC-A17F3840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076950"/>
            <a:ext cx="7753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AD6E6"/>
                </a:solidFill>
              </a:defRPr>
            </a:pPr>
            <a:r>
              <a:rPr sz="1800" b="0" i="0">
                <a:solidFill>
                  <a:srgbClr val="CAD6E6"/>
                </a:solidFill>
              </a:rPr>
              <a:t>容器只挂载授权 workspace 和 session runtime home。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89ACCD-360D-4420-9F4F-337BC435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448300"/>
            <a:ext cx="8286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2F6FB"/>
          </a:solidFill>
          <a:ln xmlns:a="http://schemas.openxmlformats.org/drawingml/2006/main" w="19050">
            <a:solidFill>
              <a:srgbClr val="CBD7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026748-9FB7-44E0-A003-0D98DB43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76900"/>
            <a:ext cx="7753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11827"/>
                </a:solidFill>
              </a:defRPr>
            </a:pPr>
            <a:r>
              <a:rPr sz="2250" b="1" i="0">
                <a:solidFill>
                  <a:srgbClr val="111827"/>
                </a:solidFill>
              </a:rPr>
              <a:t>6. Message source of truth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CCE1D5-5C63-4037-B71F-8EE2BBBC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76950"/>
            <a:ext cx="7753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38465A"/>
                </a:solidFill>
              </a:defRPr>
            </a:pPr>
            <a:r>
              <a:rPr sz="1800" b="0" i="0">
                <a:solidFill>
                  <a:srgbClr val="38465A"/>
                </a:solidFill>
              </a:rPr>
              <a:t>UI 从 agent_session_messages 读取，legacy 才回落 provider JSONL。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F33D12-8283-4424-A4FF-E32D5E49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10287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结论：Docker 是执行面边界；多租 DB 和路由授权仍然是数据面边界。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35491F-E08E-4B77-9F66-D250D660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601200"/>
            <a:ext cx="16802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B8795"/>
                </a:solidFill>
              </a:defRPr>
            </a:pPr>
            <a:r>
              <a:rPr sz="975" b="0" i="0">
                <a:solidFill>
                  <a:srgbClr val="7B8795"/>
                </a:solidFill>
              </a:rPr>
              <a:t>Sources: server/middleware/tenant-context.js; server/services/workspace-access.js; server/services/agent-session-runtime.js; server/routes/messages.js</a:t>
            </a:r>
          </a:p>
        </p:txBody>
      </p:sp>
    </p:spTree>
    <p:extLst>
      <p:ext uri="{BB962C8B-B14F-4D97-AF65-F5344CB8AC3E}">
        <p14:creationId xmlns:p14="http://schemas.microsoft.com/office/powerpoint/2010/main" val="31166467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F95B90B-5195-482C-BF43-16EEF5EB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C01E5-BCE2-4A6A-AC0F-75C46AEF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"/>
            <a:ext cx="1680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E8A86"/>
                </a:solidFill>
              </a:defRPr>
            </a:pPr>
            <a:r>
              <a:rPr sz="1425" b="1" i="0">
                <a:solidFill>
                  <a:srgbClr val="0E8A86"/>
                </a:solidFill>
              </a:rPr>
              <a:t>09 / ROLLOUT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2D3EFC-70A6-4A66-8BF0-55ECADAD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16802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11827"/>
                </a:solidFill>
              </a:defRPr>
            </a:pPr>
            <a:r>
              <a:rPr sz="4050" b="1" i="0">
                <a:solidFill>
                  <a:srgbClr val="111827"/>
                </a:solidFill>
              </a:rPr>
              <a:t>以 local 默认、docker 显式开启的方式落地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07A69-423D-40C7-9265-CB06FBB4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7315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38465A"/>
                </a:solidFill>
              </a:defRPr>
            </a:pPr>
            <a:r>
              <a:rPr sz="1800" b="0" i="0">
                <a:solidFill>
                  <a:srgbClr val="38465A"/>
                </a:solidFill>
              </a:rPr>
              <a:t>当前实现保留回滚路径，同时把生产多租所需的边界做成可配置运行时。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97097-EDCA-4C11-B2E1-7836F24C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8096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Configuration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3A4BA-BF44-4A84-ABCB-1B87FEC1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8096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3057C8"/>
                </a:solidFill>
              </a:defRPr>
            </a:pPr>
            <a:r>
              <a:rPr sz="1950" b="0" i="0">
                <a:solidFill>
                  <a:srgbClr val="3057C8"/>
                </a:solidFill>
              </a:rPr>
              <a:t>CLAUDE_EXECUTION_MODE=local|docker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74FF7-154D-4C1B-A583-FFC31EE3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809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38465A"/>
                </a:solidFill>
              </a:defRPr>
            </a:pPr>
            <a:r>
              <a:rPr sz="1650" b="0" i="0">
                <a:solidFill>
                  <a:srgbClr val="38465A"/>
                </a:solidFill>
              </a:rPr>
              <a:t>CLOUDCLI_CLAUDE_DOCKER_IMAGE=docker.io/cloudcliai/sandbox:claude-code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202BB-8883-41F9-8474-99F929F7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76950"/>
            <a:ext cx="809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38465A"/>
                </a:solidFill>
              </a:defRPr>
            </a:pPr>
            <a:r>
              <a:rPr sz="1650" b="0" i="0">
                <a:solidFill>
                  <a:srgbClr val="38465A"/>
                </a:solidFill>
              </a:rPr>
              <a:t>CLOUDCLI_RUNTIME_ROOT=~/.cloudcli/runtimes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803FE-6733-42F6-ABAF-257C0A71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8096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38465A"/>
                </a:solidFill>
              </a:defRPr>
            </a:pPr>
            <a:r>
              <a:rPr sz="1650" b="0" i="0">
                <a:solidFill>
                  <a:srgbClr val="38465A"/>
                </a:solidFill>
              </a:rPr>
              <a:t>CLOUDCLI_DOCKER_MEMORY / CLOUDCLI_DOCKER_CPUS</a:t>
            </a:r>
          </a:p>
        </p:txBody>
      </p:sp>
      <p:sp>
        <p:nvSpPr>
          <p:cNvPr id="10" name="node-1. Local parity">
            <a:extLst xmlns:a="http://schemas.openxmlformats.org/drawingml/2006/main">
              <a:ext uri="{FF2B5EF4-FFF2-40B4-BE49-F238E27FC236}">
                <a16:creationId xmlns:a16="http://schemas.microsoft.com/office/drawing/2014/main" id="{A2BB59D8-FA10-4023-8E1F-BDF0B28E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00400"/>
            <a:ext cx="685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05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437C8F-D091-4BCF-B931-75C799F0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290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57C8"/>
          </a:solidFill>
          <a:ln xmlns:a="http://schemas.openxmlformats.org/drawingml/2006/main" w="0">
            <a:solidFill>
              <a:srgbClr val="3057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128ED0-FD17-490F-8FB3-70FB5134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71850"/>
            <a:ext cx="6210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1. Local parity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2B9E90-2501-47C5-8674-A68736F6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95700"/>
            <a:ext cx="6438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8465A"/>
                </a:solidFill>
              </a:defRPr>
            </a:pPr>
            <a:r>
              <a:rPr sz="1275" b="0" i="0">
                <a:solidFill>
                  <a:srgbClr val="38465A"/>
                </a:solidFill>
              </a:rPr>
              <a:t>默认不改变本地开发体验</a:t>
            </a:r>
          </a:p>
        </p:txBody>
      </p:sp>
      <p:sp>
        <p:nvSpPr>
          <p:cNvPr id="14" name="node-2. Docker behind flag">
            <a:extLst xmlns:a="http://schemas.openxmlformats.org/drawingml/2006/main">
              <a:ext uri="{FF2B5EF4-FFF2-40B4-BE49-F238E27FC236}">
                <a16:creationId xmlns:a16="http://schemas.microsoft.com/office/drawing/2014/main" id="{0F91A572-4352-4BB8-A636-DC520A3D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476750"/>
            <a:ext cx="685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8A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07660F-D3E5-49B6-AB91-84747870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7053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A86"/>
          </a:solidFill>
          <a:ln xmlns:a="http://schemas.openxmlformats.org/drawingml/2006/main" w="0">
            <a:solidFill>
              <a:srgbClr val="0E8A8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BB314B-C4A7-4C8C-A9FA-BD0B3974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648200"/>
            <a:ext cx="6210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2. Docker behind flag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884B84-98A8-4598-8C5D-30E82619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972050"/>
            <a:ext cx="6438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8465A"/>
                </a:solidFill>
              </a:defRPr>
            </a:pPr>
            <a:r>
              <a:rPr sz="1275" b="0" i="0">
                <a:solidFill>
                  <a:srgbClr val="38465A"/>
                </a:solidFill>
              </a:rPr>
              <a:t>只在显式配置时启动容器路径</a:t>
            </a:r>
          </a:p>
        </p:txBody>
      </p:sp>
      <p:sp>
        <p:nvSpPr>
          <p:cNvPr id="18" name="node-3. DB-first history">
            <a:extLst xmlns:a="http://schemas.openxmlformats.org/drawingml/2006/main">
              <a:ext uri="{FF2B5EF4-FFF2-40B4-BE49-F238E27FC236}">
                <a16:creationId xmlns:a16="http://schemas.microsoft.com/office/drawing/2014/main" id="{4B0D930C-4C3B-423E-AA00-B012E397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753100"/>
            <a:ext cx="685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7D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DDF3B7-A870-40F2-B2E1-F33A3F96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981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4"/>
          </a:solidFill>
          <a:ln xmlns:a="http://schemas.openxmlformats.org/drawingml/2006/main" w="0">
            <a:solidFill>
              <a:srgbClr val="2F7D5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4D14D7-A79E-475B-B2D8-9427926B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924550"/>
            <a:ext cx="6210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3. DB-first history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E73605-0A73-43E2-80F5-AC58E7A7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248400"/>
            <a:ext cx="6438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8465A"/>
                </a:solidFill>
              </a:defRPr>
            </a:pPr>
            <a:r>
              <a:rPr sz="1275" b="0" i="0">
                <a:solidFill>
                  <a:srgbClr val="38465A"/>
                </a:solidFill>
              </a:rPr>
              <a:t>先稳定 UI 历史和去重模型</a:t>
            </a:r>
          </a:p>
        </p:txBody>
      </p:sp>
      <p:sp>
        <p:nvSpPr>
          <p:cNvPr id="22" name="node-4. Production hardening">
            <a:extLst xmlns:a="http://schemas.openxmlformats.org/drawingml/2006/main">
              <a:ext uri="{FF2B5EF4-FFF2-40B4-BE49-F238E27FC236}">
                <a16:creationId xmlns:a16="http://schemas.microsoft.com/office/drawing/2014/main" id="{535DB5AB-7CCA-4C19-A599-A7A883BA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7029450"/>
            <a:ext cx="685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5C4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7AF813-1158-46B9-99A8-C43B5A8F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72580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5C47"/>
          </a:solidFill>
          <a:ln xmlns:a="http://schemas.openxmlformats.org/drawingml/2006/main" w="0">
            <a:solidFill>
              <a:srgbClr val="E65C4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5655B2-0558-4909-8A8C-8586D119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200900"/>
            <a:ext cx="6210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11827"/>
                </a:solidFill>
              </a:defRPr>
            </a:pPr>
            <a:r>
              <a:rPr sz="1875" b="1" i="0">
                <a:solidFill>
                  <a:srgbClr val="111827"/>
                </a:solidFill>
              </a:rPr>
              <a:t>4. Production hardening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17C54A-DD4F-4BCE-AD1E-D47B7DB3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7524750"/>
            <a:ext cx="6438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8465A"/>
                </a:solidFill>
              </a:defRPr>
            </a:pPr>
            <a:r>
              <a:rPr sz="1275" b="0" i="0">
                <a:solidFill>
                  <a:srgbClr val="38465A"/>
                </a:solidFill>
              </a:rPr>
              <a:t>后续补 egress、凭证物化、清理策略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90FAFC-023C-4AD0-8E54-457599A0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601200"/>
            <a:ext cx="16802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B8795"/>
                </a:solidFill>
              </a:defRPr>
            </a:pPr>
            <a:r>
              <a:rPr sz="975" b="0" i="0">
                <a:solidFill>
                  <a:srgbClr val="7B8795"/>
                </a:solidFill>
              </a:rPr>
              <a:t>Sources: docs/superpowers/plans/2026-04-26-claude-docker-session-runtime-implementation.md; package.json</a:t>
            </a:r>
          </a:p>
        </p:txBody>
      </p:sp>
    </p:spTree>
    <p:extLst>
      <p:ext uri="{BB962C8B-B14F-4D97-AF65-F5344CB8AC3E}">
        <p14:creationId xmlns:p14="http://schemas.microsoft.com/office/powerpoint/2010/main" val="176588663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8CD4B15-64BB-47A9-B2D4-B80C5907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668BF-8AA5-4F93-A74C-7515CEED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"/>
            <a:ext cx="1680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E8A86"/>
                </a:solidFill>
              </a:defRPr>
            </a:pPr>
            <a:r>
              <a:rPr sz="1425" b="1" i="0">
                <a:solidFill>
                  <a:srgbClr val="0E8A86"/>
                </a:solidFill>
              </a:rPr>
              <a:t>10 / CODE MAP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55D49E-DC9B-416D-AFD0-7BA7606E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16802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111827"/>
                </a:solidFill>
              </a:defRPr>
            </a:pPr>
            <a:r>
              <a:rPr sz="4050" b="1" i="0">
                <a:solidFill>
                  <a:srgbClr val="111827"/>
                </a:solidFill>
              </a:rPr>
              <a:t>代码地图：架构边界已经落在这些文件里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3A941-1077-4D1C-8920-91AF397C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5943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38465A"/>
                </a:solidFill>
              </a:defRPr>
            </a:pPr>
            <a:r>
              <a:rPr sz="1800" b="0" i="0">
                <a:solidFill>
                  <a:srgbClr val="38465A"/>
                </a:solidFill>
              </a:rPr>
              <a:t>后续评审可以按层走，而不是在单个大文件里追所有状态。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5AF5D-BF12-4996-AA0C-F4F3A7D8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2000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E8A86"/>
                </a:solidFill>
              </a:defRPr>
            </a:pPr>
            <a:r>
              <a:rPr sz="1800" b="1" i="0">
                <a:solidFill>
                  <a:srgbClr val="0E8A86"/>
                </a:solidFill>
              </a:rPr>
              <a:t>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542F2-0620-4275-A209-8517B0AE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33700"/>
            <a:ext cx="5810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43244"/>
                </a:solidFill>
              </a:defRPr>
            </a:pPr>
            <a:r>
              <a:rPr sz="1500" b="0" i="0">
                <a:solidFill>
                  <a:srgbClr val="243244"/>
                </a:solidFill>
              </a:rPr>
              <a:t>server/services/agent-session-runtime.js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36B25-CD5D-4CFA-8206-112E735D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33700"/>
            <a:ext cx="8153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8465A"/>
                </a:solidFill>
              </a:defRPr>
            </a:pPr>
            <a:r>
              <a:rPr sz="1725" b="0" i="0">
                <a:solidFill>
                  <a:srgbClr val="38465A"/>
                </a:solidFill>
              </a:rPr>
              <a:t>执行模式、runtime 路径、docker run args、wrapper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3DC9B-DEAB-4608-BEAD-A9F0DC95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2000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3057C8"/>
                </a:solidFill>
              </a:defRPr>
            </a:pPr>
            <a:r>
              <a:rPr sz="1800" b="1" i="0">
                <a:solidFill>
                  <a:srgbClr val="3057C8"/>
                </a:solidFill>
              </a:rPr>
              <a:t>Claude SDK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51F46-F147-4970-B3BA-CEB1C39A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71900"/>
            <a:ext cx="5810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43244"/>
                </a:solidFill>
              </a:defRPr>
            </a:pPr>
            <a:r>
              <a:rPr sz="1500" b="0" i="0">
                <a:solidFill>
                  <a:srgbClr val="243244"/>
                </a:solidFill>
              </a:rPr>
              <a:t>server/claude-sdk.js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2B9A5C-FD42-48A5-A5C3-36B2439F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771900"/>
            <a:ext cx="8153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8465A"/>
                </a:solidFill>
              </a:defRPr>
            </a:pPr>
            <a:r>
              <a:rPr sz="1725" b="0" i="0">
                <a:solidFill>
                  <a:srgbClr val="38465A"/>
                </a:solidFill>
              </a:rPr>
              <a:t>准备 runtime、替换 cwd/executable、写消息、abort 停容器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4BB0E-6065-4609-99C5-6BCAB80F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2000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F7D54"/>
                </a:solidFill>
              </a:defRPr>
            </a:pPr>
            <a:r>
              <a:rPr sz="1800" b="1" i="0">
                <a:solidFill>
                  <a:srgbClr val="2F7D54"/>
                </a:solidFill>
              </a:rPr>
              <a:t>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8F853E-14EC-49BA-81E3-F87F438C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10100"/>
            <a:ext cx="5810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43244"/>
                </a:solidFill>
              </a:defRPr>
            </a:pPr>
            <a:r>
              <a:rPr sz="1500" b="0" i="0">
                <a:solidFill>
                  <a:srgbClr val="243244"/>
                </a:solidFill>
              </a:rPr>
              <a:t>server/services/session-message-history.js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88A57A-8DAF-48C6-A832-0795AA4C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610100"/>
            <a:ext cx="8153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8465A"/>
                </a:solidFill>
              </a:defRPr>
            </a:pPr>
            <a:r>
              <a:rPr sz="1725" b="0" i="0">
                <a:solidFill>
                  <a:srgbClr val="38465A"/>
                </a:solidFill>
              </a:rPr>
              <a:t>DB-first 读取；legacy fallback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D26D70-B6E7-4362-9DAC-1B7C8C50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48300"/>
            <a:ext cx="2000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2A541"/>
                </a:solidFill>
              </a:defRPr>
            </a:pPr>
            <a:r>
              <a:rPr sz="1800" b="1" i="0">
                <a:solidFill>
                  <a:srgbClr val="F2A541"/>
                </a:solidFill>
              </a:rPr>
              <a:t>Schema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BF9E03-B8BA-4988-ADC3-1A024061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448300"/>
            <a:ext cx="5810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43244"/>
                </a:solidFill>
              </a:defRPr>
            </a:pPr>
            <a:r>
              <a:rPr sz="1500" b="0" i="0">
                <a:solidFill>
                  <a:srgbClr val="243244"/>
                </a:solidFill>
              </a:rPr>
              <a:t>server/database/multitenancy-schema.js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53D9C2-38E7-4376-99A6-B50D72DC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448300"/>
            <a:ext cx="8153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8465A"/>
                </a:solidFill>
              </a:defRPr>
            </a:pPr>
            <a:r>
              <a:rPr sz="1725" b="0" i="0">
                <a:solidFill>
                  <a:srgbClr val="38465A"/>
                </a:solidFill>
              </a:rPr>
              <a:t>agent_session_runtime / agent_session_messages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818832-B663-494E-A2D0-329022DF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86500"/>
            <a:ext cx="2000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E65C47"/>
                </a:solidFill>
              </a:defRPr>
            </a:pPr>
            <a:r>
              <a:rPr sz="1800" b="1" i="0">
                <a:solidFill>
                  <a:srgbClr val="E65C47"/>
                </a:solidFill>
              </a:rPr>
              <a:t>UI merge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A263CD-AE0A-4D18-A2DF-EAC7C7A2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6286500"/>
            <a:ext cx="5810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43244"/>
                </a:solidFill>
              </a:defRPr>
            </a:pPr>
            <a:r>
              <a:rPr sz="1500" b="0" i="0">
                <a:solidFill>
                  <a:srgbClr val="243244"/>
                </a:solidFill>
              </a:rPr>
              <a:t>src/stores/sessionMerge.ts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12A63E-06B1-4C13-ABF0-FF12F40A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286500"/>
            <a:ext cx="8153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8465A"/>
                </a:solidFill>
              </a:defRPr>
            </a:pPr>
            <a:r>
              <a:rPr sz="1725" b="0" i="0">
                <a:solidFill>
                  <a:srgbClr val="38465A"/>
                </a:solidFill>
              </a:rPr>
              <a:t>server 优先、实时流补位、optimistic 去重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F5776D-423B-4CAC-B61D-1728975E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24700"/>
            <a:ext cx="2000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6D5BD0"/>
                </a:solidFill>
              </a:defRPr>
            </a:pPr>
            <a:r>
              <a:rPr sz="1800" b="1" i="0">
                <a:solidFill>
                  <a:srgbClr val="6D5BD0"/>
                </a:solidFill>
              </a:rPr>
              <a:t>Tests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050C15-FFB9-4247-BB46-04FC9D30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7124700"/>
            <a:ext cx="5810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43244"/>
                </a:solidFill>
              </a:defRPr>
            </a:pPr>
            <a:r>
              <a:rPr sz="1500" b="0" i="0">
                <a:solidFill>
                  <a:srgbClr val="243244"/>
                </a:solidFill>
              </a:rPr>
              <a:t>npm run test:multitenancy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CEA21B-7FF0-48A5-866F-F66038A3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7124700"/>
            <a:ext cx="8153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38465A"/>
                </a:solidFill>
              </a:defRPr>
            </a:pPr>
            <a:r>
              <a:rPr sz="1725" b="0" i="0">
                <a:solidFill>
                  <a:srgbClr val="38465A"/>
                </a:solidFill>
              </a:rPr>
              <a:t>runtime、消息历史、多租权限、前端合并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8F24BC-7230-4C1E-8946-3F71A541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29550"/>
            <a:ext cx="1680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7E3"/>
          </a:solidFill>
          <a:ln xmlns:a="http://schemas.openxmlformats.org/drawingml/2006/main" w="0">
            <a:solidFill>
              <a:srgbClr val="CBD7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7A9E36-4BD7-4EB9-B403-3F614158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13925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11827"/>
                </a:solidFill>
              </a:defRPr>
            </a:pPr>
            <a:r>
              <a:rPr sz="2175" b="1" i="0">
                <a:solidFill>
                  <a:srgbClr val="111827"/>
                </a:solidFill>
              </a:rPr>
              <a:t>建议讲法：先解释权限模型，再展示 Docker runtime 的文件系统边界，最后用 DB-first history 说明为什么 UI 与 CLI 状态可以各自稳定。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69DA14-262B-42FF-AA34-1AC5BF2E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601200"/>
            <a:ext cx="168021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7B8795"/>
                </a:solidFill>
              </a:defRPr>
            </a:pPr>
            <a:r>
              <a:rPr sz="975" b="0" i="0">
                <a:solidFill>
                  <a:srgbClr val="7B8795"/>
                </a:solidFill>
              </a:rPr>
              <a:t>Sources: current workspace git diff and package.json</a:t>
            </a:r>
          </a:p>
        </p:txBody>
      </p:sp>
    </p:spTree>
    <p:extLst>
      <p:ext uri="{BB962C8B-B14F-4D97-AF65-F5344CB8AC3E}">
        <p14:creationId xmlns:p14="http://schemas.microsoft.com/office/powerpoint/2010/main" val="12612583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2026-04-26T17:41:29.1010000Z</dcterms:created>
  <dcterms:modified xsi:type="dcterms:W3CDTF">2026-04-26T17:41:29.1010000Z</dcterms:modified>
</coreProperties>
</file>